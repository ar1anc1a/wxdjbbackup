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74" r:id="rId2"/>
    <p:sldId id="354" r:id="rId3"/>
    <p:sldId id="350" r:id="rId4"/>
    <p:sldId id="257" r:id="rId5"/>
    <p:sldId id="349" r:id="rId6"/>
    <p:sldId id="351" r:id="rId7"/>
    <p:sldId id="352" r:id="rId8"/>
    <p:sldId id="336" r:id="rId9"/>
    <p:sldId id="353" r:id="rId10"/>
    <p:sldId id="35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75" d="100"/>
          <a:sy n="75" d="100"/>
        </p:scale>
        <p:origin x="72" y="21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3EEBA3-50C7-455B-893E-E92E309CDEF5}" type="datetimeFigureOut">
              <a:rPr lang="zh-CN" altLang="en-US" smtClean="0"/>
              <a:t>2025/2/21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48272A-E982-4334-91EA-A4175328A0D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26F725B-6DFE-4D7E-96D5-0A4427DA94F3}" type="datetime1">
              <a:rPr lang="zh-CN" altLang="en-US" smtClean="0"/>
              <a:t>2025/2/21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3513D5-F6E8-4B75-BA94-5FACFE8A542F}"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26F725B-6DFE-4D7E-96D5-0A4427DA94F3}" type="datetime1">
              <a:rPr lang="zh-CN" altLang="en-US" smtClean="0"/>
              <a:t>2025/2/21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3513D5-F6E8-4B75-BA94-5FACFE8A542F}"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26F725B-6DFE-4D7E-96D5-0A4427DA94F3}" type="datetime1">
              <a:rPr lang="zh-CN" altLang="en-US" smtClean="0"/>
              <a:t>2025/2/21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3513D5-F6E8-4B75-BA94-5FACFE8A542F}"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726F725B-6DFE-4D7E-96D5-0A4427DA94F3}" type="datetime1">
              <a:rPr lang="zh-CN" altLang="en-US" smtClean="0"/>
              <a:t>2025/2/21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C3513D5-F6E8-4B75-BA94-5FACFE8A542F}"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726F725B-6DFE-4D7E-96D5-0A4427DA94F3}" type="datetime1">
              <a:rPr lang="zh-CN" altLang="en-US" smtClean="0"/>
              <a:t>2025/2/21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C3513D5-F6E8-4B75-BA94-5FACFE8A542F}"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26F725B-6DFE-4D7E-96D5-0A4427DA94F3}" type="datetime1">
              <a:rPr lang="zh-CN" altLang="en-US" smtClean="0"/>
              <a:t>2025/2/21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C3513D5-F6E8-4B75-BA94-5FACFE8A542F}"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26F725B-6DFE-4D7E-96D5-0A4427DA94F3}" type="datetime1">
              <a:rPr lang="zh-CN" altLang="en-US" smtClean="0"/>
              <a:t>2025/2/21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C3513D5-F6E8-4B75-BA94-5FACFE8A542F}"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26F725B-6DFE-4D7E-96D5-0A4427DA94F3}" type="datetime1">
              <a:rPr lang="zh-CN" altLang="en-US" smtClean="0"/>
              <a:t>2025/2/21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C3513D5-F6E8-4B75-BA94-5FACFE8A542F}"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26F725B-6DFE-4D7E-96D5-0A4427DA94F3}" type="datetime1">
              <a:rPr lang="zh-CN" altLang="en-US" smtClean="0"/>
              <a:t>2025/2/21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C3513D5-F6E8-4B75-BA94-5FACFE8A542F}"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26F725B-6DFE-4D7E-96D5-0A4427DA94F3}" type="datetime1">
              <a:rPr lang="zh-CN" altLang="en-US" smtClean="0"/>
              <a:t>2025/2/21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3513D5-F6E8-4B75-BA94-5FACFE8A542F}"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26F725B-6DFE-4D7E-96D5-0A4427DA94F3}" type="datetime1">
              <a:rPr lang="zh-CN" altLang="en-US" smtClean="0"/>
              <a:t>2025/2/21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3513D5-F6E8-4B75-BA94-5FACFE8A542F}" type="slidenum">
              <a:rPr lang="zh-CN" altLang="en-US" smtClean="0"/>
              <a:t>‹#›</a:t>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6F725B-6DFE-4D7E-96D5-0A4427DA94F3}" type="datetime1">
              <a:rPr lang="zh-CN" altLang="en-US" smtClean="0"/>
              <a:t>2025/2/21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3513D5-F6E8-4B75-BA94-5FACFE8A542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94792" y="2762696"/>
            <a:ext cx="10002416" cy="811764"/>
          </a:xfrm>
        </p:spPr>
        <p:txBody>
          <a:bodyPr>
            <a:noAutofit/>
          </a:bodyPr>
          <a:lstStyle/>
          <a:p>
            <a:r>
              <a:rPr lang="zh-CN" altLang="en-US" sz="4000" dirty="0">
                <a:latin typeface="黑体" pitchFamily="49" charset="-122"/>
                <a:ea typeface="黑体" pitchFamily="49" charset="-122"/>
              </a:rPr>
              <a:t>人体肠道菌群混合培养稳态体系构建及</a:t>
            </a:r>
            <a:br>
              <a:rPr lang="en-US" altLang="zh-CN" sz="4000" dirty="0">
                <a:latin typeface="黑体" pitchFamily="49" charset="-122"/>
                <a:ea typeface="黑体" pitchFamily="49" charset="-122"/>
              </a:rPr>
            </a:br>
            <a:r>
              <a:rPr lang="zh-CN" altLang="en-US" sz="4000" dirty="0">
                <a:latin typeface="黑体" pitchFamily="49" charset="-122"/>
                <a:ea typeface="黑体" pitchFamily="49" charset="-122"/>
              </a:rPr>
              <a:t>抗生素暴露条件下的风险评估</a:t>
            </a:r>
          </a:p>
        </p:txBody>
      </p:sp>
      <p:pic>
        <p:nvPicPr>
          <p:cNvPr id="13" name="图片 12"/>
          <p:cNvPicPr>
            <a:picLocks noChangeAspect="1"/>
          </p:cNvPicPr>
          <p:nvPr/>
        </p:nvPicPr>
        <p:blipFill rotWithShape="1">
          <a:blip r:embed="rId2" cstate="print">
            <a:extLst>
              <a:ext uri="{28A0092B-C50C-407E-A947-70E740481C1C}">
                <a14:useLocalDpi xmlns:a14="http://schemas.microsoft.com/office/drawing/2010/main" val="0"/>
              </a:ext>
            </a:extLst>
          </a:blip>
          <a:srcRect t="21673" b="-21673"/>
          <a:stretch>
            <a:fillRect/>
          </a:stretch>
        </p:blipFill>
        <p:spPr>
          <a:xfrm>
            <a:off x="17805" y="99643"/>
            <a:ext cx="2022489" cy="1170991"/>
          </a:xfrm>
          <a:prstGeom prst="rect">
            <a:avLst/>
          </a:prstGeom>
        </p:spPr>
      </p:pic>
      <p:sp>
        <p:nvSpPr>
          <p:cNvPr id="14" name="箭头: 五边形 13"/>
          <p:cNvSpPr/>
          <p:nvPr/>
        </p:nvSpPr>
        <p:spPr>
          <a:xfrm>
            <a:off x="149290" y="910569"/>
            <a:ext cx="10002416" cy="260422"/>
          </a:xfrm>
          <a:prstGeom prst="homePlat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15" name="文本框 14"/>
          <p:cNvSpPr txBox="1"/>
          <p:nvPr/>
        </p:nvSpPr>
        <p:spPr>
          <a:xfrm>
            <a:off x="9080991" y="4963886"/>
            <a:ext cx="1415772" cy="830997"/>
          </a:xfrm>
          <a:prstGeom prst="rect">
            <a:avLst/>
          </a:prstGeom>
          <a:noFill/>
        </p:spPr>
        <p:txBody>
          <a:bodyPr wrap="none" rtlCol="0">
            <a:spAutoFit/>
          </a:bodyPr>
          <a:lstStyle/>
          <a:p>
            <a:pPr algn="ctr"/>
            <a:r>
              <a:rPr lang="zh-CN" altLang="en-US" sz="2400" dirty="0">
                <a:latin typeface="黑体" pitchFamily="49" charset="-122"/>
                <a:ea typeface="黑体" pitchFamily="49" charset="-122"/>
              </a:rPr>
              <a:t>王星</a:t>
            </a:r>
            <a:endParaRPr lang="en-US" altLang="zh-CN" sz="2400" dirty="0">
              <a:latin typeface="黑体" pitchFamily="49" charset="-122"/>
              <a:ea typeface="黑体" pitchFamily="49" charset="-122"/>
            </a:endParaRPr>
          </a:p>
          <a:p>
            <a:pPr algn="ctr"/>
            <a:r>
              <a:rPr lang="en-US" altLang="zh-CN" sz="2400" dirty="0">
                <a:latin typeface="Times New Roman" pitchFamily="18" charset="0"/>
                <a:ea typeface="黑体" pitchFamily="49" charset="-122"/>
                <a:cs typeface="Times New Roman" pitchFamily="18" charset="0"/>
              </a:rPr>
              <a:t>2025.2.22</a:t>
            </a:r>
            <a:endParaRPr lang="zh-CN" altLang="en-US" sz="2400" dirty="0">
              <a:latin typeface="Times New Roman" pitchFamily="18" charset="0"/>
              <a:ea typeface="黑体" pitchFamily="49" charset="-122"/>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929810" y="197278"/>
            <a:ext cx="1618212"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宋体" charset="-122"/>
                <a:ea typeface="宋体" charset="-122"/>
                <a:cs typeface="+mn-cs"/>
              </a:rPr>
              <a:t>稳定性培养条件设定</a:t>
            </a:r>
          </a:p>
        </p:txBody>
      </p:sp>
      <p:cxnSp>
        <p:nvCxnSpPr>
          <p:cNvPr id="7" name="直接连接符 6"/>
          <p:cNvCxnSpPr/>
          <p:nvPr/>
        </p:nvCxnSpPr>
        <p:spPr>
          <a:xfrm>
            <a:off x="5639849" y="830101"/>
            <a:ext cx="0" cy="22860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a:off x="4164497" y="1059309"/>
            <a:ext cx="1470991" cy="0"/>
          </a:xfrm>
          <a:prstGeom prst="line">
            <a:avLst/>
          </a:prstGeom>
        </p:spPr>
        <p:style>
          <a:lnRef idx="1">
            <a:schemeClr val="dk1"/>
          </a:lnRef>
          <a:fillRef idx="0">
            <a:schemeClr val="dk1"/>
          </a:fillRef>
          <a:effectRef idx="0">
            <a:schemeClr val="dk1"/>
          </a:effectRef>
          <a:fontRef idx="minor">
            <a:schemeClr val="tx1"/>
          </a:fontRef>
        </p:style>
      </p:cxnSp>
      <p:cxnSp>
        <p:nvCxnSpPr>
          <p:cNvPr id="13" name="直接连接符 12"/>
          <p:cNvCxnSpPr/>
          <p:nvPr/>
        </p:nvCxnSpPr>
        <p:spPr>
          <a:xfrm>
            <a:off x="5645426" y="1062270"/>
            <a:ext cx="1470991" cy="0"/>
          </a:xfrm>
          <a:prstGeom prst="line">
            <a:avLst/>
          </a:prstGeom>
        </p:spPr>
        <p:style>
          <a:lnRef idx="1">
            <a:schemeClr val="dk1"/>
          </a:lnRef>
          <a:fillRef idx="0">
            <a:schemeClr val="dk1"/>
          </a:fillRef>
          <a:effectRef idx="0">
            <a:schemeClr val="dk1"/>
          </a:effectRef>
          <a:fontRef idx="minor">
            <a:schemeClr val="tx1"/>
          </a:fontRef>
        </p:style>
      </p:cxnSp>
      <p:cxnSp>
        <p:nvCxnSpPr>
          <p:cNvPr id="15" name="直接箭头连接符 14"/>
          <p:cNvCxnSpPr/>
          <p:nvPr/>
        </p:nvCxnSpPr>
        <p:spPr>
          <a:xfrm>
            <a:off x="4164497" y="1049370"/>
            <a:ext cx="0" cy="3677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p:nvPr/>
        </p:nvCxnSpPr>
        <p:spPr>
          <a:xfrm>
            <a:off x="7116417" y="1072209"/>
            <a:ext cx="0" cy="3677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文本框 22"/>
          <p:cNvSpPr txBox="1"/>
          <p:nvPr/>
        </p:nvSpPr>
        <p:spPr>
          <a:xfrm>
            <a:off x="3573118" y="1470993"/>
            <a:ext cx="1461051" cy="307777"/>
          </a:xfrm>
          <a:prstGeom prst="rect">
            <a:avLst/>
          </a:prstGeom>
          <a:ln w="19050"/>
        </p:spPr>
        <p:style>
          <a:lnRef idx="2">
            <a:schemeClr val="accent5"/>
          </a:lnRef>
          <a:fillRef idx="1">
            <a:schemeClr val="lt1"/>
          </a:fillRef>
          <a:effectRef idx="0">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宋体" charset="-122"/>
                <a:ea typeface="宋体" charset="-122"/>
                <a:cs typeface="+mn-cs"/>
              </a:rPr>
              <a:t>营养培养基组分</a:t>
            </a:r>
          </a:p>
        </p:txBody>
      </p:sp>
      <p:sp>
        <p:nvSpPr>
          <p:cNvPr id="24" name="文本框 23"/>
          <p:cNvSpPr txBox="1"/>
          <p:nvPr/>
        </p:nvSpPr>
        <p:spPr>
          <a:xfrm>
            <a:off x="6548022" y="1483348"/>
            <a:ext cx="1800851" cy="307777"/>
          </a:xfrm>
          <a:prstGeom prst="rect">
            <a:avLst/>
          </a:prstGeom>
          <a:ln w="19050"/>
        </p:spPr>
        <p:style>
          <a:lnRef idx="2">
            <a:schemeClr val="accent5"/>
          </a:lnRef>
          <a:fillRef idx="1">
            <a:schemeClr val="lt1"/>
          </a:fillRef>
          <a:effectRef idx="0">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宋体" charset="-122"/>
                <a:ea typeface="宋体" charset="-122"/>
                <a:cs typeface="+mn-cs"/>
              </a:rPr>
              <a:t>营养培养基添加流速</a:t>
            </a:r>
          </a:p>
        </p:txBody>
      </p:sp>
      <p:cxnSp>
        <p:nvCxnSpPr>
          <p:cNvPr id="28" name="直接连接符 27"/>
          <p:cNvCxnSpPr/>
          <p:nvPr/>
        </p:nvCxnSpPr>
        <p:spPr>
          <a:xfrm>
            <a:off x="4174435" y="1779390"/>
            <a:ext cx="0" cy="228312"/>
          </a:xfrm>
          <a:prstGeom prst="line">
            <a:avLst/>
          </a:prstGeom>
        </p:spPr>
        <p:style>
          <a:lnRef idx="1">
            <a:schemeClr val="dk1"/>
          </a:lnRef>
          <a:fillRef idx="0">
            <a:schemeClr val="dk1"/>
          </a:fillRef>
          <a:effectRef idx="0">
            <a:schemeClr val="dk1"/>
          </a:effectRef>
          <a:fontRef idx="minor">
            <a:schemeClr val="tx1"/>
          </a:fontRef>
        </p:style>
      </p:cxnSp>
      <p:cxnSp>
        <p:nvCxnSpPr>
          <p:cNvPr id="32" name="直接连接符 31"/>
          <p:cNvCxnSpPr/>
          <p:nvPr/>
        </p:nvCxnSpPr>
        <p:spPr>
          <a:xfrm>
            <a:off x="4159527" y="2007702"/>
            <a:ext cx="2951921" cy="0"/>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p:nvPr/>
        </p:nvCxnSpPr>
        <p:spPr>
          <a:xfrm>
            <a:off x="7119732" y="1789330"/>
            <a:ext cx="0" cy="228312"/>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a:off x="5658680" y="2011021"/>
            <a:ext cx="0" cy="228600"/>
          </a:xfrm>
          <a:prstGeom prst="line">
            <a:avLst/>
          </a:prstGeom>
          <a:ln w="12700"/>
        </p:spPr>
        <p:style>
          <a:lnRef idx="1">
            <a:schemeClr val="dk1"/>
          </a:lnRef>
          <a:fillRef idx="0">
            <a:schemeClr val="dk1"/>
          </a:fillRef>
          <a:effectRef idx="0">
            <a:schemeClr val="dk1"/>
          </a:effectRef>
          <a:fontRef idx="minor">
            <a:schemeClr val="tx1"/>
          </a:fontRef>
        </p:style>
      </p:cxnSp>
      <p:sp>
        <p:nvSpPr>
          <p:cNvPr id="45" name="文本框 44"/>
          <p:cNvSpPr txBox="1"/>
          <p:nvPr/>
        </p:nvSpPr>
        <p:spPr>
          <a:xfrm>
            <a:off x="4880528" y="2232056"/>
            <a:ext cx="1589429" cy="523220"/>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等线" charset="-122"/>
                <a:ea typeface="等线" charset="-122"/>
                <a:cs typeface="+mn-cs"/>
              </a:rPr>
              <a:t>体外肠道菌群稳态体系构建</a:t>
            </a:r>
          </a:p>
        </p:txBody>
      </p:sp>
      <p:cxnSp>
        <p:nvCxnSpPr>
          <p:cNvPr id="46" name="直接连接符 45"/>
          <p:cNvCxnSpPr/>
          <p:nvPr/>
        </p:nvCxnSpPr>
        <p:spPr>
          <a:xfrm>
            <a:off x="5645426" y="2755276"/>
            <a:ext cx="0" cy="228600"/>
          </a:xfrm>
          <a:prstGeom prst="line">
            <a:avLst/>
          </a:prstGeom>
          <a:ln w="12700"/>
        </p:spPr>
        <p:style>
          <a:lnRef idx="1">
            <a:schemeClr val="dk1"/>
          </a:lnRef>
          <a:fillRef idx="0">
            <a:schemeClr val="dk1"/>
          </a:fillRef>
          <a:effectRef idx="0">
            <a:schemeClr val="dk1"/>
          </a:effectRef>
          <a:fontRef idx="minor">
            <a:schemeClr val="tx1"/>
          </a:fontRef>
        </p:style>
      </p:cxnSp>
      <p:cxnSp>
        <p:nvCxnSpPr>
          <p:cNvPr id="47" name="直接连接符 46"/>
          <p:cNvCxnSpPr/>
          <p:nvPr/>
        </p:nvCxnSpPr>
        <p:spPr>
          <a:xfrm>
            <a:off x="4159527" y="2983876"/>
            <a:ext cx="1470991" cy="0"/>
          </a:xfrm>
          <a:prstGeom prst="line">
            <a:avLst/>
          </a:prstGeom>
        </p:spPr>
        <p:style>
          <a:lnRef idx="1">
            <a:schemeClr val="dk1"/>
          </a:lnRef>
          <a:fillRef idx="0">
            <a:schemeClr val="dk1"/>
          </a:fillRef>
          <a:effectRef idx="0">
            <a:schemeClr val="dk1"/>
          </a:effectRef>
          <a:fontRef idx="minor">
            <a:schemeClr val="tx1"/>
          </a:fontRef>
        </p:style>
      </p:cxnSp>
      <p:cxnSp>
        <p:nvCxnSpPr>
          <p:cNvPr id="48" name="直接连接符 47"/>
          <p:cNvCxnSpPr/>
          <p:nvPr/>
        </p:nvCxnSpPr>
        <p:spPr>
          <a:xfrm>
            <a:off x="5630518" y="2983876"/>
            <a:ext cx="1470991" cy="0"/>
          </a:xfrm>
          <a:prstGeom prst="line">
            <a:avLst/>
          </a:prstGeom>
        </p:spPr>
        <p:style>
          <a:lnRef idx="1">
            <a:schemeClr val="dk1"/>
          </a:lnRef>
          <a:fillRef idx="0">
            <a:schemeClr val="dk1"/>
          </a:fillRef>
          <a:effectRef idx="0">
            <a:schemeClr val="dk1"/>
          </a:effectRef>
          <a:fontRef idx="minor">
            <a:schemeClr val="tx1"/>
          </a:fontRef>
        </p:style>
      </p:cxnSp>
      <p:cxnSp>
        <p:nvCxnSpPr>
          <p:cNvPr id="49" name="直接箭头连接符 48"/>
          <p:cNvCxnSpPr/>
          <p:nvPr/>
        </p:nvCxnSpPr>
        <p:spPr>
          <a:xfrm>
            <a:off x="4159532" y="2973937"/>
            <a:ext cx="0" cy="2662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直接箭头连接符 49"/>
          <p:cNvCxnSpPr/>
          <p:nvPr/>
        </p:nvCxnSpPr>
        <p:spPr>
          <a:xfrm>
            <a:off x="7102752" y="2967766"/>
            <a:ext cx="0" cy="2624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文本框 50"/>
          <p:cNvSpPr txBox="1"/>
          <p:nvPr/>
        </p:nvSpPr>
        <p:spPr>
          <a:xfrm>
            <a:off x="3558209" y="3282936"/>
            <a:ext cx="1322319" cy="307777"/>
          </a:xfrm>
          <a:prstGeom prst="rect">
            <a:avLst/>
          </a:prstGeom>
          <a:ln w="19050"/>
        </p:spPr>
        <p:style>
          <a:lnRef idx="2">
            <a:schemeClr val="accent5"/>
          </a:lnRef>
          <a:fillRef idx="1">
            <a:schemeClr val="lt1"/>
          </a:fillRef>
          <a:effectRef idx="0">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宋体" charset="-122"/>
                <a:ea typeface="宋体" charset="-122"/>
                <a:cs typeface="+mn-cs"/>
              </a:rPr>
              <a:t>菌群组成稳定</a:t>
            </a:r>
          </a:p>
        </p:txBody>
      </p:sp>
      <p:sp>
        <p:nvSpPr>
          <p:cNvPr id="52" name="文本框 51"/>
          <p:cNvSpPr txBox="1"/>
          <p:nvPr/>
        </p:nvSpPr>
        <p:spPr>
          <a:xfrm>
            <a:off x="6413642" y="3272244"/>
            <a:ext cx="1322319" cy="307777"/>
          </a:xfrm>
          <a:prstGeom prst="rect">
            <a:avLst/>
          </a:prstGeom>
          <a:ln w="19050"/>
        </p:spPr>
        <p:style>
          <a:lnRef idx="2">
            <a:schemeClr val="accent5"/>
          </a:lnRef>
          <a:fillRef idx="1">
            <a:schemeClr val="lt1"/>
          </a:fillRef>
          <a:effectRef idx="0">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宋体" charset="-122"/>
                <a:ea typeface="宋体" charset="-122"/>
                <a:cs typeface="+mn-cs"/>
              </a:rPr>
              <a:t>代谢产物稳定</a:t>
            </a:r>
          </a:p>
        </p:txBody>
      </p:sp>
      <p:cxnSp>
        <p:nvCxnSpPr>
          <p:cNvPr id="57" name="直接箭头连接符 56"/>
          <p:cNvCxnSpPr/>
          <p:nvPr/>
        </p:nvCxnSpPr>
        <p:spPr>
          <a:xfrm flipH="1">
            <a:off x="1186926" y="520443"/>
            <a:ext cx="36874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213691" y="335777"/>
            <a:ext cx="8249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charset="-122"/>
                <a:ea typeface="等线" charset="-122"/>
                <a:cs typeface="+mn-cs"/>
              </a:rPr>
              <a:t>Part 1</a:t>
            </a:r>
            <a:endParaRPr kumimoji="0" lang="zh-CN" altLang="en-US" sz="1800" b="0" i="0" u="none" strike="noStrike" kern="1200" cap="none" spc="0" normalizeH="0" baseline="0" noProof="0" dirty="0">
              <a:ln>
                <a:noFill/>
              </a:ln>
              <a:solidFill>
                <a:prstClr val="black"/>
              </a:solidFill>
              <a:effectLst/>
              <a:uLnTx/>
              <a:uFillTx/>
              <a:latin typeface="等线" charset="-122"/>
              <a:ea typeface="等线" charset="-122"/>
              <a:cs typeface="+mn-cs"/>
            </a:endParaRPr>
          </a:p>
        </p:txBody>
      </p:sp>
      <p:cxnSp>
        <p:nvCxnSpPr>
          <p:cNvPr id="64" name="直接箭头连接符 63"/>
          <p:cNvCxnSpPr>
            <a:stCxn id="45" idx="1"/>
          </p:cNvCxnSpPr>
          <p:nvPr/>
        </p:nvCxnSpPr>
        <p:spPr>
          <a:xfrm flipH="1">
            <a:off x="1172817" y="2493666"/>
            <a:ext cx="3707711" cy="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13691" y="2309000"/>
            <a:ext cx="7633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charset="-122"/>
                <a:ea typeface="等线" charset="-122"/>
                <a:cs typeface="+mn-cs"/>
              </a:rPr>
              <a:t>Part 2</a:t>
            </a:r>
            <a:endParaRPr kumimoji="0" lang="zh-CN" altLang="en-US" sz="1800" b="0" i="0" u="none" strike="noStrike" kern="1200" cap="none" spc="0" normalizeH="0" baseline="0" noProof="0" dirty="0">
              <a:ln>
                <a:noFill/>
              </a:ln>
              <a:solidFill>
                <a:prstClr val="black"/>
              </a:solidFill>
              <a:effectLst/>
              <a:uLnTx/>
              <a:uFillTx/>
              <a:latin typeface="等线" charset="-122"/>
              <a:ea typeface="等线" charset="-122"/>
              <a:cs typeface="+mn-cs"/>
            </a:endParaRPr>
          </a:p>
        </p:txBody>
      </p:sp>
      <p:cxnSp>
        <p:nvCxnSpPr>
          <p:cNvPr id="67" name="直接箭头连接符 66"/>
          <p:cNvCxnSpPr>
            <a:stCxn id="60" idx="2"/>
          </p:cNvCxnSpPr>
          <p:nvPr/>
        </p:nvCxnSpPr>
        <p:spPr>
          <a:xfrm>
            <a:off x="626165" y="705109"/>
            <a:ext cx="0" cy="1534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4159527" y="3590713"/>
            <a:ext cx="0" cy="228312"/>
          </a:xfrm>
          <a:prstGeom prst="line">
            <a:avLst/>
          </a:prstGeom>
        </p:spPr>
        <p:style>
          <a:lnRef idx="1">
            <a:schemeClr val="dk1"/>
          </a:lnRef>
          <a:fillRef idx="0">
            <a:schemeClr val="dk1"/>
          </a:fillRef>
          <a:effectRef idx="0">
            <a:schemeClr val="dk1"/>
          </a:effectRef>
          <a:fontRef idx="minor">
            <a:schemeClr val="tx1"/>
          </a:fontRef>
        </p:style>
      </p:cxnSp>
      <p:cxnSp>
        <p:nvCxnSpPr>
          <p:cNvPr id="70" name="直接连接符 69"/>
          <p:cNvCxnSpPr/>
          <p:nvPr/>
        </p:nvCxnSpPr>
        <p:spPr>
          <a:xfrm>
            <a:off x="4159527" y="3819025"/>
            <a:ext cx="2951921" cy="0"/>
          </a:xfrm>
          <a:prstGeom prst="line">
            <a:avLst/>
          </a:prstGeom>
        </p:spPr>
        <p:style>
          <a:lnRef idx="1">
            <a:schemeClr val="dk1"/>
          </a:lnRef>
          <a:fillRef idx="0">
            <a:schemeClr val="dk1"/>
          </a:fillRef>
          <a:effectRef idx="0">
            <a:schemeClr val="dk1"/>
          </a:effectRef>
          <a:fontRef idx="minor">
            <a:schemeClr val="tx1"/>
          </a:fontRef>
        </p:style>
      </p:cxnSp>
      <p:cxnSp>
        <p:nvCxnSpPr>
          <p:cNvPr id="71" name="直接连接符 70"/>
          <p:cNvCxnSpPr/>
          <p:nvPr/>
        </p:nvCxnSpPr>
        <p:spPr>
          <a:xfrm>
            <a:off x="7111448" y="3590713"/>
            <a:ext cx="0" cy="228312"/>
          </a:xfrm>
          <a:prstGeom prst="line">
            <a:avLst/>
          </a:prstGeom>
        </p:spPr>
        <p:style>
          <a:lnRef idx="1">
            <a:schemeClr val="dk1"/>
          </a:lnRef>
          <a:fillRef idx="0">
            <a:schemeClr val="dk1"/>
          </a:fillRef>
          <a:effectRef idx="0">
            <a:schemeClr val="dk1"/>
          </a:effectRef>
          <a:fontRef idx="minor">
            <a:schemeClr val="tx1"/>
          </a:fontRef>
        </p:style>
      </p:cxnSp>
      <p:cxnSp>
        <p:nvCxnSpPr>
          <p:cNvPr id="72" name="直接连接符 71"/>
          <p:cNvCxnSpPr/>
          <p:nvPr/>
        </p:nvCxnSpPr>
        <p:spPr>
          <a:xfrm>
            <a:off x="5681871" y="3819025"/>
            <a:ext cx="0" cy="228600"/>
          </a:xfrm>
          <a:prstGeom prst="line">
            <a:avLst/>
          </a:prstGeom>
          <a:ln w="12700"/>
        </p:spPr>
        <p:style>
          <a:lnRef idx="1">
            <a:schemeClr val="dk1"/>
          </a:lnRef>
          <a:fillRef idx="0">
            <a:schemeClr val="dk1"/>
          </a:fillRef>
          <a:effectRef idx="0">
            <a:schemeClr val="dk1"/>
          </a:effectRef>
          <a:fontRef idx="minor">
            <a:schemeClr val="tx1"/>
          </a:fontRef>
        </p:style>
      </p:cxnSp>
      <p:sp>
        <p:nvSpPr>
          <p:cNvPr id="73" name="文本框 72"/>
          <p:cNvSpPr txBox="1"/>
          <p:nvPr/>
        </p:nvSpPr>
        <p:spPr>
          <a:xfrm>
            <a:off x="5018227" y="4037314"/>
            <a:ext cx="1341160" cy="523220"/>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等线" charset="-122"/>
                <a:ea typeface="等线" charset="-122"/>
                <a:cs typeface="+mn-cs"/>
              </a:rPr>
              <a:t>体外肠道菌群稳态体系构建</a:t>
            </a:r>
          </a:p>
        </p:txBody>
      </p:sp>
      <p:cxnSp>
        <p:nvCxnSpPr>
          <p:cNvPr id="78" name="直接箭头连接符 77"/>
          <p:cNvCxnSpPr>
            <a:stCxn id="73" idx="2"/>
            <a:endCxn id="93" idx="0"/>
          </p:cNvCxnSpPr>
          <p:nvPr/>
        </p:nvCxnSpPr>
        <p:spPr>
          <a:xfrm>
            <a:off x="5688807" y="4560534"/>
            <a:ext cx="10251" cy="3295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3" name="文本框 92"/>
          <p:cNvSpPr txBox="1"/>
          <p:nvPr/>
        </p:nvSpPr>
        <p:spPr>
          <a:xfrm>
            <a:off x="4984474" y="4890053"/>
            <a:ext cx="1429168" cy="523220"/>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prstClr val="black"/>
                </a:solidFill>
                <a:latin typeface="宋体" charset="-122"/>
                <a:ea typeface="宋体" charset="-122"/>
              </a:rPr>
              <a:t>环境抗生素暴露风险评估</a:t>
            </a:r>
            <a:endParaRPr kumimoji="0" lang="zh-CN" altLang="en-US" sz="1400" b="0" i="0" u="none" strike="noStrike" kern="1200" cap="none" spc="0" normalizeH="0" baseline="0" noProof="0" dirty="0">
              <a:ln>
                <a:noFill/>
              </a:ln>
              <a:solidFill>
                <a:prstClr val="black"/>
              </a:solidFill>
              <a:effectLst/>
              <a:uLnTx/>
              <a:uFillTx/>
              <a:latin typeface="宋体" charset="-122"/>
              <a:ea typeface="宋体" charset="-122"/>
              <a:cs typeface="+mn-cs"/>
            </a:endParaRPr>
          </a:p>
        </p:txBody>
      </p:sp>
      <p:cxnSp>
        <p:nvCxnSpPr>
          <p:cNvPr id="97" name="直接箭头连接符 96"/>
          <p:cNvCxnSpPr/>
          <p:nvPr/>
        </p:nvCxnSpPr>
        <p:spPr>
          <a:xfrm flipH="1">
            <a:off x="1038639" y="5111717"/>
            <a:ext cx="38418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213691" y="4818725"/>
            <a:ext cx="7633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charset="-122"/>
                <a:ea typeface="等线" charset="-122"/>
                <a:cs typeface="+mn-cs"/>
              </a:rPr>
              <a:t>Part 3</a:t>
            </a:r>
            <a:endParaRPr kumimoji="0" lang="zh-CN" altLang="en-US" sz="1800" b="0" i="0" u="none" strike="noStrike" kern="1200" cap="none" spc="0" normalizeH="0" baseline="0" noProof="0" dirty="0">
              <a:ln>
                <a:noFill/>
              </a:ln>
              <a:solidFill>
                <a:prstClr val="black"/>
              </a:solidFill>
              <a:effectLst/>
              <a:uLnTx/>
              <a:uFillTx/>
              <a:latin typeface="等线" charset="-122"/>
              <a:ea typeface="等线" charset="-122"/>
              <a:cs typeface="+mn-cs"/>
            </a:endParaRPr>
          </a:p>
        </p:txBody>
      </p:sp>
      <p:cxnSp>
        <p:nvCxnSpPr>
          <p:cNvPr id="100" name="直接箭头连接符 99"/>
          <p:cNvCxnSpPr/>
          <p:nvPr/>
        </p:nvCxnSpPr>
        <p:spPr>
          <a:xfrm>
            <a:off x="595366" y="2862787"/>
            <a:ext cx="0" cy="1534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5697292" y="5396522"/>
            <a:ext cx="1766" cy="425584"/>
          </a:xfrm>
          <a:prstGeom prst="line">
            <a:avLst/>
          </a:prstGeom>
          <a:ln w="12700"/>
        </p:spPr>
        <p:style>
          <a:lnRef idx="1">
            <a:schemeClr val="dk1"/>
          </a:lnRef>
          <a:fillRef idx="0">
            <a:schemeClr val="dk1"/>
          </a:fillRef>
          <a:effectRef idx="0">
            <a:schemeClr val="dk1"/>
          </a:effectRef>
          <a:fontRef idx="minor">
            <a:schemeClr val="tx1"/>
          </a:fontRef>
        </p:style>
      </p:cxnSp>
      <p:cxnSp>
        <p:nvCxnSpPr>
          <p:cNvPr id="106" name="直接连接符 105"/>
          <p:cNvCxnSpPr/>
          <p:nvPr/>
        </p:nvCxnSpPr>
        <p:spPr>
          <a:xfrm>
            <a:off x="2807426" y="5822106"/>
            <a:ext cx="2900950" cy="0"/>
          </a:xfrm>
          <a:prstGeom prst="line">
            <a:avLst/>
          </a:prstGeom>
        </p:spPr>
        <p:style>
          <a:lnRef idx="1">
            <a:schemeClr val="dk1"/>
          </a:lnRef>
          <a:fillRef idx="0">
            <a:schemeClr val="dk1"/>
          </a:fillRef>
          <a:effectRef idx="0">
            <a:schemeClr val="dk1"/>
          </a:effectRef>
          <a:fontRef idx="minor">
            <a:schemeClr val="tx1"/>
          </a:fontRef>
        </p:style>
      </p:cxnSp>
      <p:cxnSp>
        <p:nvCxnSpPr>
          <p:cNvPr id="107" name="直接连接符 106"/>
          <p:cNvCxnSpPr/>
          <p:nvPr/>
        </p:nvCxnSpPr>
        <p:spPr>
          <a:xfrm>
            <a:off x="5708376" y="5822106"/>
            <a:ext cx="3354344" cy="0"/>
          </a:xfrm>
          <a:prstGeom prst="line">
            <a:avLst/>
          </a:prstGeom>
        </p:spPr>
        <p:style>
          <a:lnRef idx="1">
            <a:schemeClr val="dk1"/>
          </a:lnRef>
          <a:fillRef idx="0">
            <a:schemeClr val="dk1"/>
          </a:fillRef>
          <a:effectRef idx="0">
            <a:schemeClr val="dk1"/>
          </a:effectRef>
          <a:fontRef idx="minor">
            <a:schemeClr val="tx1"/>
          </a:fontRef>
        </p:style>
      </p:cxnSp>
      <p:cxnSp>
        <p:nvCxnSpPr>
          <p:cNvPr id="109" name="直接箭头连接符 108"/>
          <p:cNvCxnSpPr/>
          <p:nvPr/>
        </p:nvCxnSpPr>
        <p:spPr>
          <a:xfrm>
            <a:off x="2807426" y="5831030"/>
            <a:ext cx="0" cy="2394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直接箭头连接符 110"/>
          <p:cNvCxnSpPr/>
          <p:nvPr/>
        </p:nvCxnSpPr>
        <p:spPr>
          <a:xfrm>
            <a:off x="9062720" y="5831030"/>
            <a:ext cx="0" cy="2286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5" name="文本框 114"/>
          <p:cNvSpPr txBox="1"/>
          <p:nvPr/>
        </p:nvSpPr>
        <p:spPr>
          <a:xfrm>
            <a:off x="2261782" y="6144044"/>
            <a:ext cx="1172401" cy="584775"/>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solidFill>
                  <a:prstClr val="black"/>
                </a:solidFill>
                <a:latin typeface="等线" charset="-122"/>
                <a:ea typeface="等线" charset="-122"/>
              </a:rPr>
              <a:t>肠道菌群组成变化</a:t>
            </a:r>
            <a:endParaRPr kumimoji="0" lang="zh-CN" altLang="en-US" sz="1600" b="0" i="0" u="none" strike="noStrike" kern="1200" cap="none" spc="0" normalizeH="0" baseline="0" noProof="0" dirty="0">
              <a:ln>
                <a:noFill/>
              </a:ln>
              <a:solidFill>
                <a:prstClr val="black"/>
              </a:solidFill>
              <a:effectLst/>
              <a:uLnTx/>
              <a:uFillTx/>
              <a:latin typeface="等线" charset="-122"/>
              <a:ea typeface="等线" charset="-122"/>
              <a:cs typeface="+mn-cs"/>
            </a:endParaRPr>
          </a:p>
        </p:txBody>
      </p:sp>
      <p:sp>
        <p:nvSpPr>
          <p:cNvPr id="116" name="文本框 115"/>
          <p:cNvSpPr txBox="1"/>
          <p:nvPr/>
        </p:nvSpPr>
        <p:spPr>
          <a:xfrm>
            <a:off x="4086726" y="6185402"/>
            <a:ext cx="1686168" cy="584775"/>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等线" charset="-122"/>
                <a:ea typeface="等线" charset="-122"/>
                <a:cs typeface="+mn-cs"/>
              </a:rPr>
              <a:t>宏基因组学分析抗性基因迁移</a:t>
            </a:r>
          </a:p>
        </p:txBody>
      </p:sp>
      <p:cxnSp>
        <p:nvCxnSpPr>
          <p:cNvPr id="125" name="直接连接符 124"/>
          <p:cNvCxnSpPr/>
          <p:nvPr/>
        </p:nvCxnSpPr>
        <p:spPr>
          <a:xfrm>
            <a:off x="6548022" y="5033781"/>
            <a:ext cx="316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flipH="1" flipV="1">
            <a:off x="6587573" y="4508409"/>
            <a:ext cx="14498" cy="10259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p:nvPr/>
        </p:nvCxnSpPr>
        <p:spPr>
          <a:xfrm>
            <a:off x="6587573" y="4508409"/>
            <a:ext cx="2029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p:cNvCxnSpPr/>
          <p:nvPr/>
        </p:nvCxnSpPr>
        <p:spPr>
          <a:xfrm flipV="1">
            <a:off x="6587573" y="5542227"/>
            <a:ext cx="218662" cy="42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0" name="文本框 139"/>
          <p:cNvSpPr txBox="1"/>
          <p:nvPr/>
        </p:nvSpPr>
        <p:spPr>
          <a:xfrm>
            <a:off x="6786772" y="4331343"/>
            <a:ext cx="1620076" cy="307777"/>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prstClr val="black"/>
                </a:solidFill>
                <a:latin typeface="等线" charset="-122"/>
                <a:ea typeface="等线" charset="-122"/>
              </a:rPr>
              <a:t>头孢菌素类</a:t>
            </a:r>
            <a:endParaRPr kumimoji="0" lang="zh-CN" altLang="en-US" sz="1400" b="0" i="0" u="none" strike="noStrike" kern="1200" cap="none" spc="0" normalizeH="0" baseline="0" noProof="0" dirty="0">
              <a:ln>
                <a:noFill/>
              </a:ln>
              <a:solidFill>
                <a:prstClr val="black"/>
              </a:solidFill>
              <a:effectLst/>
              <a:uLnTx/>
              <a:uFillTx/>
              <a:latin typeface="等线" charset="-122"/>
              <a:ea typeface="等线" charset="-122"/>
              <a:cs typeface="+mn-cs"/>
            </a:endParaRPr>
          </a:p>
        </p:txBody>
      </p:sp>
      <p:sp>
        <p:nvSpPr>
          <p:cNvPr id="141" name="文本框 140"/>
          <p:cNvSpPr txBox="1"/>
          <p:nvPr/>
        </p:nvSpPr>
        <p:spPr>
          <a:xfrm>
            <a:off x="6798368" y="5356934"/>
            <a:ext cx="1620076" cy="307777"/>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prstClr val="black"/>
                </a:solidFill>
                <a:latin typeface="等线" charset="-122"/>
                <a:ea typeface="等线" charset="-122"/>
              </a:rPr>
              <a:t>喹诺酮类</a:t>
            </a:r>
            <a:endParaRPr kumimoji="0" lang="zh-CN" altLang="en-US" sz="1400" b="0" i="0" u="none" strike="noStrike" kern="1200" cap="none" spc="0" normalizeH="0" baseline="0" noProof="0" dirty="0">
              <a:ln>
                <a:noFill/>
              </a:ln>
              <a:solidFill>
                <a:prstClr val="black"/>
              </a:solidFill>
              <a:effectLst/>
              <a:uLnTx/>
              <a:uFillTx/>
              <a:latin typeface="等线" charset="-122"/>
              <a:ea typeface="等线" charset="-122"/>
              <a:cs typeface="+mn-cs"/>
            </a:endParaRPr>
          </a:p>
        </p:txBody>
      </p:sp>
      <p:cxnSp>
        <p:nvCxnSpPr>
          <p:cNvPr id="143" name="直接连接符 142"/>
          <p:cNvCxnSpPr/>
          <p:nvPr/>
        </p:nvCxnSpPr>
        <p:spPr>
          <a:xfrm>
            <a:off x="7735961" y="3426132"/>
            <a:ext cx="1660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V="1">
            <a:off x="7902025" y="3043713"/>
            <a:ext cx="0" cy="7827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直接箭头连接符 144"/>
          <p:cNvCxnSpPr/>
          <p:nvPr/>
        </p:nvCxnSpPr>
        <p:spPr>
          <a:xfrm>
            <a:off x="7917518" y="3034752"/>
            <a:ext cx="2029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p:nvPr/>
        </p:nvCxnSpPr>
        <p:spPr>
          <a:xfrm>
            <a:off x="7921049" y="3833855"/>
            <a:ext cx="2054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7" name="文本框 146"/>
          <p:cNvSpPr txBox="1"/>
          <p:nvPr/>
        </p:nvSpPr>
        <p:spPr>
          <a:xfrm>
            <a:off x="8157661" y="2911878"/>
            <a:ext cx="2222827" cy="307777"/>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prstClr val="black"/>
                </a:solidFill>
                <a:latin typeface="等线" charset="-122"/>
                <a:ea typeface="等线" charset="-122"/>
              </a:rPr>
              <a:t>短链脂肪酸含量</a:t>
            </a:r>
            <a:endParaRPr kumimoji="0" lang="zh-CN" altLang="en-US" sz="1400" b="0" i="0" u="none" strike="noStrike" kern="1200" cap="none" spc="0" normalizeH="0" baseline="0" noProof="0" dirty="0">
              <a:ln>
                <a:noFill/>
              </a:ln>
              <a:solidFill>
                <a:prstClr val="black"/>
              </a:solidFill>
              <a:effectLst/>
              <a:uLnTx/>
              <a:uFillTx/>
              <a:latin typeface="等线" charset="-122"/>
              <a:ea typeface="等线" charset="-122"/>
              <a:cs typeface="+mn-cs"/>
            </a:endParaRPr>
          </a:p>
        </p:txBody>
      </p:sp>
      <p:sp>
        <p:nvSpPr>
          <p:cNvPr id="148" name="文本框 147"/>
          <p:cNvSpPr txBox="1"/>
          <p:nvPr/>
        </p:nvSpPr>
        <p:spPr>
          <a:xfrm>
            <a:off x="8150926" y="3644849"/>
            <a:ext cx="2222827" cy="307777"/>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prstClr val="black"/>
                </a:solidFill>
                <a:latin typeface="等线" charset="-122"/>
                <a:ea typeface="等线" charset="-122"/>
              </a:rPr>
              <a:t>限制性底物含量</a:t>
            </a:r>
            <a:endParaRPr kumimoji="0" lang="zh-CN" altLang="en-US" sz="1400" b="0" i="0" u="none" strike="noStrike" kern="1200" cap="none" spc="0" normalizeH="0" baseline="0" noProof="0" dirty="0">
              <a:ln>
                <a:noFill/>
              </a:ln>
              <a:solidFill>
                <a:prstClr val="black"/>
              </a:solidFill>
              <a:effectLst/>
              <a:uLnTx/>
              <a:uFillTx/>
              <a:latin typeface="等线" charset="-122"/>
              <a:ea typeface="等线" charset="-122"/>
              <a:cs typeface="+mn-cs"/>
            </a:endParaRPr>
          </a:p>
        </p:txBody>
      </p:sp>
      <p:sp>
        <p:nvSpPr>
          <p:cNvPr id="164" name="文本框 163"/>
          <p:cNvSpPr txBox="1"/>
          <p:nvPr/>
        </p:nvSpPr>
        <p:spPr>
          <a:xfrm>
            <a:off x="5098994" y="1481066"/>
            <a:ext cx="1372611" cy="307777"/>
          </a:xfrm>
          <a:prstGeom prst="rect">
            <a:avLst/>
          </a:prstGeom>
          <a:ln w="19050"/>
        </p:spPr>
        <p:style>
          <a:lnRef idx="2">
            <a:schemeClr val="accent5"/>
          </a:lnRef>
          <a:fillRef idx="1">
            <a:schemeClr val="lt1"/>
          </a:fillRef>
          <a:effectRef idx="0">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等线" charset="-122"/>
                <a:ea typeface="等线" charset="-122"/>
                <a:cs typeface="+mn-cs"/>
              </a:rPr>
              <a:t>不同人群粪便</a:t>
            </a:r>
          </a:p>
        </p:txBody>
      </p:sp>
      <p:cxnSp>
        <p:nvCxnSpPr>
          <p:cNvPr id="166" name="直接箭头连接符 165"/>
          <p:cNvCxnSpPr/>
          <p:nvPr/>
        </p:nvCxnSpPr>
        <p:spPr>
          <a:xfrm>
            <a:off x="5640350" y="1059309"/>
            <a:ext cx="0" cy="3578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左中括号 1"/>
          <p:cNvSpPr/>
          <p:nvPr/>
        </p:nvSpPr>
        <p:spPr>
          <a:xfrm>
            <a:off x="3368082" y="823945"/>
            <a:ext cx="132202" cy="1533222"/>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charset="-122"/>
              <a:ea typeface="等线" charset="-122"/>
              <a:cs typeface="+mn-cs"/>
            </a:endParaRPr>
          </a:p>
        </p:txBody>
      </p:sp>
      <p:sp>
        <p:nvSpPr>
          <p:cNvPr id="3" name="文本框 2"/>
          <p:cNvSpPr txBox="1"/>
          <p:nvPr/>
        </p:nvSpPr>
        <p:spPr>
          <a:xfrm>
            <a:off x="2807426" y="1350818"/>
            <a:ext cx="54373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宋体" charset="-122"/>
                <a:ea typeface="宋体" charset="-122"/>
                <a:cs typeface="+mn-cs"/>
              </a:rPr>
              <a:t>完成</a:t>
            </a:r>
          </a:p>
        </p:txBody>
      </p:sp>
      <p:cxnSp>
        <p:nvCxnSpPr>
          <p:cNvPr id="36" name="直接箭头连接符 35"/>
          <p:cNvCxnSpPr/>
          <p:nvPr/>
        </p:nvCxnSpPr>
        <p:spPr>
          <a:xfrm>
            <a:off x="2893449" y="4298924"/>
            <a:ext cx="19253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3256716" y="3973524"/>
            <a:ext cx="9028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宋体" charset="-122"/>
                <a:ea typeface="宋体" charset="-122"/>
                <a:cs typeface="+mn-cs"/>
              </a:rPr>
              <a:t>构建成功</a:t>
            </a:r>
          </a:p>
        </p:txBody>
      </p:sp>
      <p:sp>
        <p:nvSpPr>
          <p:cNvPr id="21" name="文本框 20"/>
          <p:cNvSpPr txBox="1"/>
          <p:nvPr/>
        </p:nvSpPr>
        <p:spPr>
          <a:xfrm>
            <a:off x="6798368" y="4858645"/>
            <a:ext cx="1620076" cy="307777"/>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prstClr val="black"/>
                </a:solidFill>
                <a:latin typeface="等线" charset="-122"/>
                <a:ea typeface="等线" charset="-122"/>
              </a:rPr>
              <a:t>青霉素</a:t>
            </a:r>
            <a:r>
              <a:rPr kumimoji="0" lang="zh-CN" altLang="en-US" sz="1400" b="0" i="0" u="none" strike="noStrike" kern="1200" cap="none" spc="0" normalizeH="0" baseline="0" noProof="0" dirty="0">
                <a:ln>
                  <a:noFill/>
                </a:ln>
                <a:solidFill>
                  <a:prstClr val="black"/>
                </a:solidFill>
                <a:effectLst/>
                <a:uLnTx/>
                <a:uFillTx/>
                <a:latin typeface="等线" charset="-122"/>
                <a:ea typeface="等线" charset="-122"/>
                <a:cs typeface="+mn-cs"/>
              </a:rPr>
              <a:t>类</a:t>
            </a:r>
          </a:p>
        </p:txBody>
      </p:sp>
      <p:sp>
        <p:nvSpPr>
          <p:cNvPr id="25" name="文本框 24"/>
          <p:cNvSpPr txBox="1"/>
          <p:nvPr/>
        </p:nvSpPr>
        <p:spPr>
          <a:xfrm>
            <a:off x="6286465" y="6154205"/>
            <a:ext cx="1039540" cy="584775"/>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等线" charset="-122"/>
                <a:ea typeface="等线" charset="-122"/>
                <a:cs typeface="+mn-cs"/>
              </a:rPr>
              <a:t>氧化还原能力变化</a:t>
            </a:r>
          </a:p>
        </p:txBody>
      </p:sp>
      <p:sp>
        <p:nvSpPr>
          <p:cNvPr id="35" name="文本框 34"/>
          <p:cNvSpPr txBox="1"/>
          <p:nvPr/>
        </p:nvSpPr>
        <p:spPr>
          <a:xfrm>
            <a:off x="8367742" y="6139215"/>
            <a:ext cx="1433844" cy="584775"/>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等线" charset="-122"/>
                <a:ea typeface="等线" charset="-122"/>
                <a:cs typeface="+mn-cs"/>
              </a:rPr>
              <a:t>抗生素抗性基因</a:t>
            </a:r>
            <a:r>
              <a:rPr lang="zh-CN" altLang="en-US" sz="1600" dirty="0">
                <a:solidFill>
                  <a:prstClr val="black"/>
                </a:solidFill>
                <a:latin typeface="等线" charset="-122"/>
                <a:ea typeface="等线" charset="-122"/>
              </a:rPr>
              <a:t>含量变化</a:t>
            </a:r>
            <a:endParaRPr kumimoji="0" lang="zh-CN" altLang="en-US" sz="1600" b="0" i="0" u="none" strike="noStrike" kern="1200" cap="none" spc="0" normalizeH="0" baseline="0" noProof="0" dirty="0">
              <a:ln>
                <a:noFill/>
              </a:ln>
              <a:solidFill>
                <a:prstClr val="black"/>
              </a:solidFill>
              <a:effectLst/>
              <a:uLnTx/>
              <a:uFillTx/>
              <a:latin typeface="等线" charset="-122"/>
              <a:ea typeface="等线" charset="-122"/>
              <a:cs typeface="+mn-cs"/>
            </a:endParaRPr>
          </a:p>
        </p:txBody>
      </p:sp>
      <p:cxnSp>
        <p:nvCxnSpPr>
          <p:cNvPr id="42" name="直接箭头连接符 41"/>
          <p:cNvCxnSpPr>
            <a:stCxn id="140" idx="3"/>
          </p:cNvCxnSpPr>
          <p:nvPr/>
        </p:nvCxnSpPr>
        <p:spPr>
          <a:xfrm flipV="1">
            <a:off x="8406848" y="4485231"/>
            <a:ext cx="10825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9489440" y="4336014"/>
            <a:ext cx="1620076" cy="307777"/>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prstClr val="black"/>
                </a:solidFill>
                <a:latin typeface="等线" charset="-122"/>
                <a:ea typeface="等线" charset="-122"/>
              </a:rPr>
              <a:t>头孢曲松钠</a:t>
            </a:r>
            <a:endParaRPr kumimoji="0" lang="zh-CN" altLang="en-US" sz="1400" b="0" i="0" u="none" strike="noStrike" kern="1200" cap="none" spc="0" normalizeH="0" baseline="0" noProof="0" dirty="0">
              <a:ln>
                <a:noFill/>
              </a:ln>
              <a:solidFill>
                <a:prstClr val="black"/>
              </a:solidFill>
              <a:effectLst/>
              <a:uLnTx/>
              <a:uFillTx/>
              <a:latin typeface="等线" charset="-122"/>
              <a:ea typeface="等线" charset="-122"/>
              <a:cs typeface="+mn-cs"/>
            </a:endParaRPr>
          </a:p>
        </p:txBody>
      </p:sp>
      <p:cxnSp>
        <p:nvCxnSpPr>
          <p:cNvPr id="55" name="直接箭头连接符 54"/>
          <p:cNvCxnSpPr/>
          <p:nvPr/>
        </p:nvCxnSpPr>
        <p:spPr>
          <a:xfrm flipV="1">
            <a:off x="8457648" y="5003391"/>
            <a:ext cx="10825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9540240" y="4874494"/>
            <a:ext cx="1620076" cy="307777"/>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等线" charset="-122"/>
                <a:ea typeface="等线" charset="-122"/>
                <a:cs typeface="+mn-cs"/>
              </a:rPr>
              <a:t>阿莫西林</a:t>
            </a:r>
          </a:p>
        </p:txBody>
      </p:sp>
      <p:cxnSp>
        <p:nvCxnSpPr>
          <p:cNvPr id="59" name="直接箭头连接符 58"/>
          <p:cNvCxnSpPr/>
          <p:nvPr/>
        </p:nvCxnSpPr>
        <p:spPr>
          <a:xfrm flipV="1">
            <a:off x="8447488" y="5491071"/>
            <a:ext cx="10825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9540240" y="5362174"/>
            <a:ext cx="1620076" cy="307777"/>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prstClr val="black"/>
                </a:solidFill>
                <a:latin typeface="等线" charset="-122"/>
                <a:ea typeface="等线" charset="-122"/>
              </a:rPr>
              <a:t>环丙沙星</a:t>
            </a:r>
            <a:endParaRPr kumimoji="0" lang="zh-CN" altLang="en-US" sz="1400" b="0" i="0" u="none" strike="noStrike" kern="1200" cap="none" spc="0" normalizeH="0" baseline="0" noProof="0" dirty="0">
              <a:ln>
                <a:noFill/>
              </a:ln>
              <a:solidFill>
                <a:prstClr val="black"/>
              </a:solidFill>
              <a:effectLst/>
              <a:uLnTx/>
              <a:uFillTx/>
              <a:latin typeface="等线" charset="-122"/>
              <a:ea typeface="等线"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79E90CA-43A3-35F7-C0D2-8C3B9FB9DD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85700" y="440964"/>
            <a:ext cx="9415980" cy="5976071"/>
          </a:xfrm>
          <a:prstGeom prst="rect">
            <a:avLst/>
          </a:prstGeom>
        </p:spPr>
      </p:pic>
    </p:spTree>
    <p:extLst>
      <p:ext uri="{BB962C8B-B14F-4D97-AF65-F5344CB8AC3E}">
        <p14:creationId xmlns:p14="http://schemas.microsoft.com/office/powerpoint/2010/main" val="3195765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1782146" y="1147664"/>
          <a:ext cx="8864081" cy="4370459"/>
        </p:xfrm>
        <a:graphic>
          <a:graphicData uri="http://schemas.openxmlformats.org/drawingml/2006/table">
            <a:tbl>
              <a:tblPr>
                <a:tableStyleId>{3B4B98B0-60AC-42C2-AFA5-B58CD77FA1E5}</a:tableStyleId>
              </a:tblPr>
              <a:tblGrid>
                <a:gridCol w="8864081">
                  <a:extLst>
                    <a:ext uri="{9D8B030D-6E8A-4147-A177-3AD203B41FA5}">
                      <a16:colId xmlns:a16="http://schemas.microsoft.com/office/drawing/2014/main" val="20000"/>
                    </a:ext>
                  </a:extLst>
                </a:gridCol>
              </a:tblGrid>
              <a:tr h="4370459">
                <a:tc>
                  <a:txBody>
                    <a:bodyPr/>
                    <a:lstStyle/>
                    <a:p>
                      <a:pPr algn="l"/>
                      <a:r>
                        <a:rPr lang="zh-CN" altLang="en-US" dirty="0"/>
                        <a:t>抗生素                           类别                   浓度来源              浓度</a:t>
                      </a:r>
                    </a:p>
                  </a:txBody>
                  <a:tcPr>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5" name="表格 4"/>
          <p:cNvGraphicFramePr>
            <a:graphicFrameLocks noGrp="1"/>
          </p:cNvGraphicFramePr>
          <p:nvPr/>
        </p:nvGraphicFramePr>
        <p:xfrm>
          <a:off x="1772816" y="1586204"/>
          <a:ext cx="8864082" cy="4297680"/>
        </p:xfrm>
        <a:graphic>
          <a:graphicData uri="http://schemas.openxmlformats.org/drawingml/2006/table">
            <a:tbl>
              <a:tblPr>
                <a:tableStyleId>{3B4B98B0-60AC-42C2-AFA5-B58CD77FA1E5}</a:tableStyleId>
              </a:tblPr>
              <a:tblGrid>
                <a:gridCol w="8864082">
                  <a:extLst>
                    <a:ext uri="{9D8B030D-6E8A-4147-A177-3AD203B41FA5}">
                      <a16:colId xmlns:a16="http://schemas.microsoft.com/office/drawing/2014/main" val="20000"/>
                    </a:ext>
                  </a:extLst>
                </a:gridCol>
              </a:tblGrid>
              <a:tr h="11756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环丙沙星                        </a:t>
                      </a:r>
                      <a:r>
                        <a:rPr lang="zh-CN" altLang="en-US" sz="1800" b="0" i="0" kern="1200" dirty="0">
                          <a:solidFill>
                            <a:schemeClr val="tx1"/>
                          </a:solidFill>
                          <a:effectLst/>
                          <a:latin typeface="+mn-lt"/>
                          <a:ea typeface="+mn-ea"/>
                          <a:cs typeface="+mn-cs"/>
                        </a:rPr>
                        <a:t>喹诺酮               </a:t>
                      </a:r>
                      <a:r>
                        <a:rPr lang="zh-CN" altLang="en-US" dirty="0"/>
                        <a:t> 地表水              </a:t>
                      </a:r>
                      <a:r>
                        <a:rPr lang="en-US" altLang="zh-CN" dirty="0">
                          <a:latin typeface="Times New Roman" pitchFamily="18" charset="0"/>
                          <a:cs typeface="Times New Roman" pitchFamily="18" charset="0"/>
                        </a:rPr>
                        <a:t>46.54</a:t>
                      </a:r>
                      <a:r>
                        <a:rPr lang="en-US" altLang="zh-CN" dirty="0">
                          <a:latin typeface="Times New Roman" pitchFamily="18" charset="0"/>
                          <a:ea typeface="Cambria" pitchFamily="18" charset="0"/>
                          <a:cs typeface="Times New Roman" pitchFamily="18" charset="0"/>
                        </a:rPr>
                        <a:t>µg/L</a:t>
                      </a:r>
                      <a:endParaRPr lang="en-US" altLang="zh-CN" dirty="0">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r>
                        <a:rPr lang="en-US" altLang="zh-CN" dirty="0">
                          <a:latin typeface="宋体" charset="-122"/>
                          <a:ea typeface="宋体" charset="-122"/>
                        </a:rPr>
                        <a:t>  </a:t>
                      </a:r>
                    </a:p>
                    <a:p>
                      <a:r>
                        <a:rPr lang="en-US" altLang="zh-CN" dirty="0"/>
                        <a:t>                                                               </a:t>
                      </a:r>
                      <a:r>
                        <a:rPr lang="zh-CN" altLang="en-US" dirty="0"/>
                        <a:t>中国养殖场         </a:t>
                      </a:r>
                      <a:r>
                        <a:rPr lang="en-US" altLang="zh-CN" dirty="0">
                          <a:latin typeface="Times New Roman" pitchFamily="18" charset="0"/>
                          <a:ea typeface="黑体" pitchFamily="49" charset="-122"/>
                          <a:cs typeface="Times New Roman" pitchFamily="18" charset="0"/>
                        </a:rPr>
                        <a:t>33.98mg/L</a:t>
                      </a:r>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阿莫西林                       </a:t>
                      </a:r>
                      <a:r>
                        <a:rPr lang="el-GR" altLang="zh-CN" dirty="0">
                          <a:latin typeface="Cambria" pitchFamily="18" charset="0"/>
                          <a:ea typeface="Cambria" pitchFamily="18" charset="0"/>
                        </a:rPr>
                        <a:t>β</a:t>
                      </a:r>
                      <a:r>
                        <a:rPr lang="en-US" altLang="zh-CN" dirty="0">
                          <a:latin typeface="Cambria" pitchFamily="18" charset="0"/>
                          <a:ea typeface="Cambria" pitchFamily="18" charset="0"/>
                        </a:rPr>
                        <a:t>-</a:t>
                      </a:r>
                      <a:r>
                        <a:rPr lang="zh-CN" altLang="en-US" dirty="0">
                          <a:latin typeface="Cambria" pitchFamily="18" charset="0"/>
                          <a:ea typeface="Cambria" pitchFamily="18" charset="0"/>
                        </a:rPr>
                        <a:t>内酰胺</a:t>
                      </a:r>
                      <a:r>
                        <a:rPr lang="zh-CN" altLang="en-US" dirty="0"/>
                        <a:t>            地表水               </a:t>
                      </a:r>
                      <a:r>
                        <a:rPr lang="en-US" altLang="zh-CN" dirty="0">
                          <a:latin typeface="Times New Roman" pitchFamily="18" charset="0"/>
                          <a:cs typeface="Times New Roman" pitchFamily="18" charset="0"/>
                        </a:rPr>
                        <a:t>24.5</a:t>
                      </a:r>
                      <a:r>
                        <a:rPr lang="zh-CN" altLang="en-US" dirty="0">
                          <a:latin typeface="Times New Roman" pitchFamily="18" charset="0"/>
                          <a:cs typeface="Times New Roman" pitchFamily="18" charset="0"/>
                        </a:rPr>
                        <a:t> </a:t>
                      </a:r>
                      <a:r>
                        <a:rPr lang="en-US" altLang="zh-CN" dirty="0">
                          <a:latin typeface="Times New Roman" pitchFamily="18" charset="0"/>
                          <a:ea typeface="Cambria" pitchFamily="18" charset="0"/>
                          <a:cs typeface="Times New Roman" pitchFamily="18" charset="0"/>
                        </a:rPr>
                        <a:t>µg/L</a:t>
                      </a:r>
                    </a:p>
                    <a:p>
                      <a:r>
                        <a:rPr lang="en-US" altLang="zh-CN" dirty="0">
                          <a:latin typeface="Cambria" pitchFamily="18" charset="0"/>
                          <a:ea typeface="Cambria" pitchFamily="18" charset="0"/>
                        </a:rPr>
                        <a:t>                                     </a:t>
                      </a:r>
                    </a:p>
                    <a:p>
                      <a:r>
                        <a:rPr lang="en-US" altLang="zh-CN" dirty="0">
                          <a:latin typeface="Cambria" pitchFamily="18" charset="0"/>
                          <a:ea typeface="Cambria" pitchFamily="18" charset="0"/>
                        </a:rPr>
                        <a:t>                                                                             </a:t>
                      </a:r>
                      <a:r>
                        <a:rPr lang="zh-CN" altLang="en-US" dirty="0">
                          <a:latin typeface="Cambria" pitchFamily="18" charset="0"/>
                          <a:ea typeface="Cambria" pitchFamily="18" charset="0"/>
                        </a:rPr>
                        <a:t>泰国养猪场</a:t>
                      </a:r>
                      <a:r>
                        <a:rPr lang="en-US" altLang="zh-CN" dirty="0">
                          <a:latin typeface="Cambria" pitchFamily="18" charset="0"/>
                          <a:ea typeface="Cambria" pitchFamily="18" charset="0"/>
                        </a:rPr>
                        <a:t>          3.3mg/L</a:t>
                      </a:r>
                      <a:endParaRPr lang="en-US" altLang="zh-CN" dirty="0"/>
                    </a:p>
                    <a:p>
                      <a:r>
                        <a:rPr lang="en-US" altLang="zh-CN" dirty="0"/>
                        <a:t>                                                                                            </a:t>
                      </a:r>
                      <a:endParaRPr lang="en-US" altLang="zh-CN" dirty="0">
                        <a:latin typeface="Times New Roman" pitchFamily="18" charset="0"/>
                        <a:cs typeface="Times New Roman" pitchFamily="18" charset="0"/>
                      </a:endParaRPr>
                    </a:p>
                    <a:p>
                      <a:r>
                        <a:rPr lang="en-US" altLang="zh-CN" dirty="0"/>
                        <a:t>          </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头孢曲松钠                   </a:t>
                      </a:r>
                      <a:r>
                        <a:rPr lang="el-GR" altLang="zh-CN" dirty="0">
                          <a:latin typeface="Cambria" pitchFamily="18" charset="0"/>
                          <a:ea typeface="Cambria" pitchFamily="18" charset="0"/>
                        </a:rPr>
                        <a:t>β</a:t>
                      </a:r>
                      <a:r>
                        <a:rPr lang="en-US" altLang="zh-CN" dirty="0">
                          <a:latin typeface="Cambria" pitchFamily="18" charset="0"/>
                          <a:ea typeface="Cambria" pitchFamily="18" charset="0"/>
                        </a:rPr>
                        <a:t>-</a:t>
                      </a:r>
                      <a:r>
                        <a:rPr lang="zh-CN" altLang="en-US" dirty="0">
                          <a:latin typeface="Cambria" pitchFamily="18" charset="0"/>
                          <a:ea typeface="Cambria" pitchFamily="18" charset="0"/>
                        </a:rPr>
                        <a:t>内酰胺</a:t>
                      </a:r>
                      <a:r>
                        <a:rPr lang="zh-CN" altLang="en-US" dirty="0"/>
                        <a:t>           医院废水            </a:t>
                      </a:r>
                      <a:r>
                        <a:rPr lang="en-US" altLang="zh-CN" dirty="0">
                          <a:latin typeface="Times New Roman" pitchFamily="18" charset="0"/>
                          <a:cs typeface="Times New Roman" pitchFamily="18" charset="0"/>
                        </a:rPr>
                        <a:t>19.056</a:t>
                      </a:r>
                      <a:r>
                        <a:rPr lang="en-US" altLang="zh-CN" dirty="0">
                          <a:latin typeface="Times New Roman" pitchFamily="18" charset="0"/>
                          <a:ea typeface="Cambria" pitchFamily="18" charset="0"/>
                          <a:cs typeface="Times New Roman" pitchFamily="18" charset="0"/>
                        </a:rPr>
                        <a:t>µg/L</a:t>
                      </a:r>
                      <a:r>
                        <a:rPr lang="zh-CN" altLang="en-US" dirty="0">
                          <a:latin typeface="Times New Roman" pitchFamily="18" charset="0"/>
                          <a:cs typeface="Times New Roman" pitchFamily="18" charset="0"/>
                        </a:rPr>
                        <a:t>       </a:t>
                      </a:r>
                      <a:endParaRPr lang="en-US" altLang="zh-CN" dirty="0">
                        <a:latin typeface="Times New Roman" pitchFamily="18" charset="0"/>
                        <a:ea typeface="Cambria" pitchFamily="18" charset="0"/>
                        <a:cs typeface="Times New Roman" pitchFamily="18" charset="0"/>
                      </a:endParaRPr>
                    </a:p>
                    <a:p>
                      <a:endParaRPr lang="en-US" altLang="zh-CN" dirty="0">
                        <a:latin typeface="Cambria" pitchFamily="18" charset="0"/>
                        <a:ea typeface="Cambria" pitchFamily="18" charset="0"/>
                      </a:endParaRPr>
                    </a:p>
                    <a:p>
                      <a:r>
                        <a:rPr lang="en-US" altLang="zh-CN" dirty="0">
                          <a:latin typeface="Cambria" pitchFamily="18" charset="0"/>
                          <a:ea typeface="Cambria" pitchFamily="18" charset="0"/>
                        </a:rPr>
                        <a:t>                                                                             </a:t>
                      </a:r>
                      <a:r>
                        <a:rPr lang="zh-CN" altLang="en-US" dirty="0">
                          <a:latin typeface="Cambria" pitchFamily="18" charset="0"/>
                          <a:ea typeface="Cambria" pitchFamily="18" charset="0"/>
                        </a:rPr>
                        <a:t>城市污水</a:t>
                      </a:r>
                      <a:r>
                        <a:rPr lang="en-US" altLang="zh-CN" dirty="0">
                          <a:latin typeface="Cambria" pitchFamily="18" charset="0"/>
                          <a:ea typeface="Cambria" pitchFamily="18" charset="0"/>
                        </a:rPr>
                        <a:t>               </a:t>
                      </a:r>
                      <a:r>
                        <a:rPr lang="en-US" altLang="zh-CN" dirty="0">
                          <a:latin typeface="Times New Roman" pitchFamily="18" charset="0"/>
                          <a:ea typeface="Cambria" pitchFamily="18" charset="0"/>
                          <a:cs typeface="Times New Roman" pitchFamily="18" charset="0"/>
                        </a:rPr>
                        <a:t>29.15mg/L</a:t>
                      </a:r>
                      <a:endParaRPr lang="zh-CN" altLang="en-US" dirty="0">
                        <a:latin typeface="Times New Roman" pitchFamily="18" charset="0"/>
                        <a:ea typeface="宋体" charset="-122"/>
                        <a:cs typeface="Times New Roman" pitchFamily="18" charset="0"/>
                      </a:endParaRPr>
                    </a:p>
                  </a:txBody>
                  <a:tcPr/>
                </a:tc>
                <a:extLst>
                  <a:ext uri="{0D108BD9-81ED-4DB2-BD59-A6C34878D82A}">
                    <a16:rowId xmlns:a16="http://schemas.microsoft.com/office/drawing/2014/main" val="10000"/>
                  </a:ext>
                </a:extLst>
              </a:tr>
              <a:tr h="117566">
                <a:tc>
                  <a:txBody>
                    <a:bodyPr/>
                    <a:lstStyle/>
                    <a:p>
                      <a:endParaRPr lang="zh-CN" altLang="en-US" dirty="0"/>
                    </a:p>
                  </a:txBody>
                  <a:tcPr/>
                </a:tc>
                <a:extLst>
                  <a:ext uri="{0D108BD9-81ED-4DB2-BD59-A6C34878D82A}">
                    <a16:rowId xmlns:a16="http://schemas.microsoft.com/office/drawing/2014/main" val="10001"/>
                  </a:ext>
                </a:extLst>
              </a:tr>
            </a:tbl>
          </a:graphicData>
        </a:graphic>
      </p:graphicFrame>
      <p:sp>
        <p:nvSpPr>
          <p:cNvPr id="2" name="文本框 1"/>
          <p:cNvSpPr txBox="1"/>
          <p:nvPr/>
        </p:nvSpPr>
        <p:spPr>
          <a:xfrm>
            <a:off x="653143" y="416345"/>
            <a:ext cx="326243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latin typeface="等线" charset="-122"/>
                <a:ea typeface="等线" charset="-122"/>
                <a:cs typeface="+mn-cs"/>
              </a:rPr>
              <a:t>抗生素种类及浓度选择</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0" y="0"/>
            <a:ext cx="2517866" cy="1822862"/>
          </a:xfrm>
          <a:prstGeom prst="rect">
            <a:avLst/>
          </a:prstGeom>
        </p:spPr>
      </p:pic>
      <p:sp>
        <p:nvSpPr>
          <p:cNvPr id="5" name="箭头: 五边形 4"/>
          <p:cNvSpPr/>
          <p:nvPr/>
        </p:nvSpPr>
        <p:spPr>
          <a:xfrm>
            <a:off x="149290" y="910569"/>
            <a:ext cx="10002416" cy="260422"/>
          </a:xfrm>
          <a:prstGeom prst="homePlat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10" name="文本框 9"/>
          <p:cNvSpPr txBox="1"/>
          <p:nvPr/>
        </p:nvSpPr>
        <p:spPr>
          <a:xfrm>
            <a:off x="464128" y="1266094"/>
            <a:ext cx="7373585" cy="461665"/>
          </a:xfrm>
          <a:prstGeom prst="rect">
            <a:avLst/>
          </a:prstGeom>
          <a:noFill/>
        </p:spPr>
        <p:txBody>
          <a:bodyPr wrap="square" rtlCol="0">
            <a:spAutoFit/>
          </a:bodyPr>
          <a:lstStyle/>
          <a:p>
            <a:r>
              <a:rPr lang="zh-CN" altLang="en-US" sz="2400" dirty="0">
                <a:latin typeface="黑体" pitchFamily="49" charset="-122"/>
                <a:ea typeface="黑体" pitchFamily="49" charset="-122"/>
              </a:rPr>
              <a:t>抗生素暴露处理稳定期肠道菌群生长曲线及</a:t>
            </a:r>
            <a:r>
              <a:rPr lang="en-US" altLang="zh-CN" sz="2400" dirty="0">
                <a:latin typeface="黑体" pitchFamily="49" charset="-122"/>
                <a:ea typeface="黑体" pitchFamily="49" charset="-122"/>
              </a:rPr>
              <a:t>pH</a:t>
            </a:r>
            <a:r>
              <a:rPr lang="zh-CN" altLang="en-US" sz="2400" dirty="0">
                <a:latin typeface="黑体" pitchFamily="49" charset="-122"/>
                <a:ea typeface="黑体" pitchFamily="49" charset="-122"/>
              </a:rPr>
              <a:t>变化</a:t>
            </a:r>
          </a:p>
        </p:txBody>
      </p:sp>
      <p:sp>
        <p:nvSpPr>
          <p:cNvPr id="11" name="文本框 10"/>
          <p:cNvSpPr txBox="1"/>
          <p:nvPr/>
        </p:nvSpPr>
        <p:spPr>
          <a:xfrm>
            <a:off x="1520889" y="5859624"/>
            <a:ext cx="9190653" cy="923330"/>
          </a:xfrm>
          <a:prstGeom prst="rect">
            <a:avLst/>
          </a:prstGeom>
          <a:noFill/>
        </p:spPr>
        <p:txBody>
          <a:bodyPr wrap="square" rtlCol="0">
            <a:spAutoFit/>
          </a:bodyPr>
          <a:lstStyle/>
          <a:p>
            <a:r>
              <a:rPr lang="en-US" altLang="zh-CN" dirty="0">
                <a:latin typeface="Times New Roman" pitchFamily="18" charset="0"/>
                <a:cs typeface="Times New Roman" pitchFamily="18" charset="0"/>
              </a:rPr>
              <a:t>Fig1.Stability gut microbiota antibiotic treatment  community growth and pH change.(A)Stability gut microbiota disturbed by antibiotic treatment growth curve.(B)Stability gut microbiota disturbed by antibiotic treatment pH change.</a:t>
            </a:r>
            <a:endParaRPr lang="zh-CN" altLang="en-US" dirty="0">
              <a:latin typeface="Times New Roman" pitchFamily="18" charset="0"/>
              <a:cs typeface="Times New Roman" pitchFamily="18" charset="0"/>
            </a:endParaRPr>
          </a:p>
        </p:txBody>
      </p:sp>
      <p:pic>
        <p:nvPicPr>
          <p:cNvPr id="9" name="图片 8">
            <a:extLst>
              <a:ext uri="{FF2B5EF4-FFF2-40B4-BE49-F238E27FC236}">
                <a16:creationId xmlns:a16="http://schemas.microsoft.com/office/drawing/2014/main" id="{3CF8434B-A9BC-E43C-D6FE-DA6BA4FC48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682" y="1878790"/>
            <a:ext cx="7688425" cy="3943570"/>
          </a:xfrm>
          <a:prstGeom prst="rect">
            <a:avLst/>
          </a:prstGeom>
        </p:spPr>
      </p:pic>
      <p:sp>
        <p:nvSpPr>
          <p:cNvPr id="2" name="文本框 1">
            <a:extLst>
              <a:ext uri="{FF2B5EF4-FFF2-40B4-BE49-F238E27FC236}">
                <a16:creationId xmlns:a16="http://schemas.microsoft.com/office/drawing/2014/main" id="{0A437DB6-C3BC-982B-5CFC-FB431E10CDC8}"/>
              </a:ext>
            </a:extLst>
          </p:cNvPr>
          <p:cNvSpPr txBox="1"/>
          <p:nvPr/>
        </p:nvSpPr>
        <p:spPr>
          <a:xfrm>
            <a:off x="8930640" y="4622800"/>
            <a:ext cx="2600960" cy="646331"/>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稳定期肠道菌群抗生素暴露菌群生长受限抑制。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9E1406B-EAD5-4D6E-A9FE-115780F26A97}"/>
              </a:ext>
            </a:extLst>
          </p:cNvPr>
          <p:cNvPicPr>
            <a:picLocks noChangeAspect="1"/>
          </p:cNvPicPr>
          <p:nvPr/>
        </p:nvPicPr>
        <p:blipFill>
          <a:blip r:embed="rId2"/>
          <a:stretch>
            <a:fillRect/>
          </a:stretch>
        </p:blipFill>
        <p:spPr>
          <a:xfrm>
            <a:off x="0" y="0"/>
            <a:ext cx="2517866" cy="1822862"/>
          </a:xfrm>
          <a:prstGeom prst="rect">
            <a:avLst/>
          </a:prstGeom>
        </p:spPr>
      </p:pic>
      <p:sp>
        <p:nvSpPr>
          <p:cNvPr id="5" name="箭头: 五边形 4">
            <a:extLst>
              <a:ext uri="{FF2B5EF4-FFF2-40B4-BE49-F238E27FC236}">
                <a16:creationId xmlns:a16="http://schemas.microsoft.com/office/drawing/2014/main" id="{5FB83C8A-7859-B2F1-4E6A-9A160291C89E}"/>
              </a:ext>
            </a:extLst>
          </p:cNvPr>
          <p:cNvSpPr/>
          <p:nvPr/>
        </p:nvSpPr>
        <p:spPr>
          <a:xfrm>
            <a:off x="149290" y="910569"/>
            <a:ext cx="10002416" cy="260422"/>
          </a:xfrm>
          <a:prstGeom prst="homePlat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pic>
        <p:nvPicPr>
          <p:cNvPr id="11" name="内容占位符 10">
            <a:extLst>
              <a:ext uri="{FF2B5EF4-FFF2-40B4-BE49-F238E27FC236}">
                <a16:creationId xmlns:a16="http://schemas.microsoft.com/office/drawing/2014/main" id="{4E3740AC-3556-C8EB-3EBB-4C914733D65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40508" y="1700250"/>
            <a:ext cx="8088532" cy="3927145"/>
          </a:xfrm>
        </p:spPr>
      </p:pic>
      <p:sp>
        <p:nvSpPr>
          <p:cNvPr id="12" name="文本框 11">
            <a:extLst>
              <a:ext uri="{FF2B5EF4-FFF2-40B4-BE49-F238E27FC236}">
                <a16:creationId xmlns:a16="http://schemas.microsoft.com/office/drawing/2014/main" id="{3E18C40D-766B-C80D-73F8-6943063AD5D0}"/>
              </a:ext>
            </a:extLst>
          </p:cNvPr>
          <p:cNvSpPr txBox="1"/>
          <p:nvPr/>
        </p:nvSpPr>
        <p:spPr>
          <a:xfrm>
            <a:off x="900237" y="5599885"/>
            <a:ext cx="8731371" cy="1200329"/>
          </a:xfrm>
          <a:prstGeom prst="rect">
            <a:avLst/>
          </a:prstGeom>
          <a:noFill/>
        </p:spPr>
        <p:txBody>
          <a:bodyPr wrap="square" rtlCol="0">
            <a:spAutoFit/>
          </a:bodyPr>
          <a:lstStyle/>
          <a:p>
            <a:r>
              <a:rPr lang="en-US" altLang="zh-CN" dirty="0">
                <a:latin typeface="Times New Roman" pitchFamily="18" charset="0"/>
                <a:cs typeface="Times New Roman" pitchFamily="18" charset="0"/>
              </a:rPr>
              <a:t>Fig2.Stability gut microbiota antibiotic treatment  community antioxidant and biological film change.(A)Stability gut microbiota disturbed by antibiotic treatment DPPH remove rate. (B)Stability gut microbiota disturbed by antibiotic treatment total antioxidant capacity.</a:t>
            </a:r>
          </a:p>
          <a:p>
            <a:r>
              <a:rPr lang="en-US" altLang="zh-CN" dirty="0">
                <a:latin typeface="Times New Roman" pitchFamily="18" charset="0"/>
                <a:cs typeface="Times New Roman" pitchFamily="18" charset="0"/>
              </a:rPr>
              <a:t>(C) Stability gut microbiota disturbed by antibiotic treatment biological film change.</a:t>
            </a:r>
            <a:endParaRPr lang="zh-CN" altLang="en-US" dirty="0">
              <a:latin typeface="Times New Roman" pitchFamily="18" charset="0"/>
              <a:cs typeface="Times New Roman" pitchFamily="18" charset="0"/>
            </a:endParaRPr>
          </a:p>
        </p:txBody>
      </p:sp>
      <p:sp>
        <p:nvSpPr>
          <p:cNvPr id="13" name="文本框 12">
            <a:extLst>
              <a:ext uri="{FF2B5EF4-FFF2-40B4-BE49-F238E27FC236}">
                <a16:creationId xmlns:a16="http://schemas.microsoft.com/office/drawing/2014/main" id="{54E9129B-E8EF-4BAF-EA9A-9FC216DA61C6}"/>
              </a:ext>
            </a:extLst>
          </p:cNvPr>
          <p:cNvSpPr txBox="1"/>
          <p:nvPr/>
        </p:nvSpPr>
        <p:spPr>
          <a:xfrm>
            <a:off x="464128" y="1266094"/>
            <a:ext cx="8088532" cy="461665"/>
          </a:xfrm>
          <a:prstGeom prst="rect">
            <a:avLst/>
          </a:prstGeom>
          <a:noFill/>
        </p:spPr>
        <p:txBody>
          <a:bodyPr wrap="square" rtlCol="0">
            <a:spAutoFit/>
          </a:bodyPr>
          <a:lstStyle/>
          <a:p>
            <a:r>
              <a:rPr lang="zh-CN" altLang="en-US" sz="2400" dirty="0">
                <a:latin typeface="黑体" pitchFamily="49" charset="-122"/>
                <a:ea typeface="黑体" pitchFamily="49" charset="-122"/>
              </a:rPr>
              <a:t>抗生素暴露处理稳定期肠道菌群抗氧化及生物膜形成能力</a:t>
            </a:r>
          </a:p>
        </p:txBody>
      </p:sp>
      <p:sp>
        <p:nvSpPr>
          <p:cNvPr id="14" name="文本框 13">
            <a:extLst>
              <a:ext uri="{FF2B5EF4-FFF2-40B4-BE49-F238E27FC236}">
                <a16:creationId xmlns:a16="http://schemas.microsoft.com/office/drawing/2014/main" id="{E0419138-968D-34C5-EDBC-CBCA9F1FD139}"/>
              </a:ext>
            </a:extLst>
          </p:cNvPr>
          <p:cNvSpPr txBox="1"/>
          <p:nvPr/>
        </p:nvSpPr>
        <p:spPr>
          <a:xfrm>
            <a:off x="8829040" y="3870297"/>
            <a:ext cx="3078479" cy="1200329"/>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抗生素暴露处理稳定期肠道</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菌群生物膜形成能力下降，环丙沙星暴露处理抗氧化能力下降</a:t>
            </a:r>
          </a:p>
        </p:txBody>
      </p:sp>
    </p:spTree>
    <p:extLst>
      <p:ext uri="{BB962C8B-B14F-4D97-AF65-F5344CB8AC3E}">
        <p14:creationId xmlns:p14="http://schemas.microsoft.com/office/powerpoint/2010/main" val="2833794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D4752F27-E6B5-501A-880A-32CDDCF52E4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35280" y="1727759"/>
            <a:ext cx="7789919" cy="4939349"/>
          </a:xfrm>
        </p:spPr>
      </p:pic>
      <p:pic>
        <p:nvPicPr>
          <p:cNvPr id="4" name="图片 3">
            <a:extLst>
              <a:ext uri="{FF2B5EF4-FFF2-40B4-BE49-F238E27FC236}">
                <a16:creationId xmlns:a16="http://schemas.microsoft.com/office/drawing/2014/main" id="{6B127908-777E-382F-2F10-5D17A0F72652}"/>
              </a:ext>
            </a:extLst>
          </p:cNvPr>
          <p:cNvPicPr>
            <a:picLocks noChangeAspect="1"/>
          </p:cNvPicPr>
          <p:nvPr/>
        </p:nvPicPr>
        <p:blipFill>
          <a:blip r:embed="rId3"/>
          <a:stretch>
            <a:fillRect/>
          </a:stretch>
        </p:blipFill>
        <p:spPr>
          <a:xfrm>
            <a:off x="0" y="0"/>
            <a:ext cx="2517866" cy="1822862"/>
          </a:xfrm>
          <a:prstGeom prst="rect">
            <a:avLst/>
          </a:prstGeom>
        </p:spPr>
      </p:pic>
      <p:sp>
        <p:nvSpPr>
          <p:cNvPr id="5" name="箭头: 五边形 4">
            <a:extLst>
              <a:ext uri="{FF2B5EF4-FFF2-40B4-BE49-F238E27FC236}">
                <a16:creationId xmlns:a16="http://schemas.microsoft.com/office/drawing/2014/main" id="{9C6B641C-4AFC-1044-4A30-766A1CD173B8}"/>
              </a:ext>
            </a:extLst>
          </p:cNvPr>
          <p:cNvSpPr/>
          <p:nvPr/>
        </p:nvSpPr>
        <p:spPr>
          <a:xfrm>
            <a:off x="149290" y="910569"/>
            <a:ext cx="10002416" cy="260422"/>
          </a:xfrm>
          <a:prstGeom prst="homePlat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2A1BA676-4189-9B54-2162-993696A19ABF}"/>
              </a:ext>
            </a:extLst>
          </p:cNvPr>
          <p:cNvSpPr txBox="1"/>
          <p:nvPr/>
        </p:nvSpPr>
        <p:spPr>
          <a:xfrm>
            <a:off x="464128" y="1266094"/>
            <a:ext cx="8088532" cy="461665"/>
          </a:xfrm>
          <a:prstGeom prst="rect">
            <a:avLst/>
          </a:prstGeom>
          <a:noFill/>
        </p:spPr>
        <p:txBody>
          <a:bodyPr wrap="square" rtlCol="0">
            <a:spAutoFit/>
          </a:bodyPr>
          <a:lstStyle/>
          <a:p>
            <a:r>
              <a:rPr lang="zh-CN" altLang="en-US" sz="2400" dirty="0">
                <a:latin typeface="黑体" pitchFamily="49" charset="-122"/>
                <a:ea typeface="黑体" pitchFamily="49" charset="-122"/>
              </a:rPr>
              <a:t>抗生素暴露处理稳定期肠道菌群代谢产物测定</a:t>
            </a:r>
          </a:p>
        </p:txBody>
      </p:sp>
      <p:sp>
        <p:nvSpPr>
          <p:cNvPr id="9" name="文本框 8">
            <a:extLst>
              <a:ext uri="{FF2B5EF4-FFF2-40B4-BE49-F238E27FC236}">
                <a16:creationId xmlns:a16="http://schemas.microsoft.com/office/drawing/2014/main" id="{14B0C97D-3081-30CA-EDCD-4D80ADA6CEF2}"/>
              </a:ext>
            </a:extLst>
          </p:cNvPr>
          <p:cNvSpPr txBox="1"/>
          <p:nvPr/>
        </p:nvSpPr>
        <p:spPr>
          <a:xfrm>
            <a:off x="7875866" y="4550828"/>
            <a:ext cx="4551680" cy="1815882"/>
          </a:xfrm>
          <a:prstGeom prst="rect">
            <a:avLst/>
          </a:prstGeom>
          <a:noFill/>
        </p:spPr>
        <p:txBody>
          <a:bodyPr wrap="square" rtlCol="0">
            <a:spAutoFit/>
          </a:bodyPr>
          <a:lstStyle/>
          <a:p>
            <a:r>
              <a:rPr lang="en-US" altLang="zh-CN" sz="1600" dirty="0">
                <a:latin typeface="Times New Roman" pitchFamily="18" charset="0"/>
                <a:cs typeface="Times New Roman" pitchFamily="18" charset="0"/>
              </a:rPr>
              <a:t>Fig3.Stability gut microbiota antibiotic treatment  community SCFA and limiting substrate. (A) Ciprofloxacin treatment SCFA concentration. (B) Ceftriaxone sodium treatment SCFA concentration.(C) Amoxicillin treatment SCFA concentration.(D) Antibiotic treatment limiting substrate concentration</a:t>
            </a:r>
            <a:endParaRPr lang="zh-CN" altLang="en-US" sz="1600" dirty="0">
              <a:latin typeface="Times New Roman" pitchFamily="18" charset="0"/>
              <a:cs typeface="Times New Roman" pitchFamily="18" charset="0"/>
            </a:endParaRPr>
          </a:p>
        </p:txBody>
      </p:sp>
      <p:sp>
        <p:nvSpPr>
          <p:cNvPr id="10" name="文本框 9">
            <a:extLst>
              <a:ext uri="{FF2B5EF4-FFF2-40B4-BE49-F238E27FC236}">
                <a16:creationId xmlns:a16="http://schemas.microsoft.com/office/drawing/2014/main" id="{91F4A5CB-78E5-6806-AEC8-DEAD7A6ED4DD}"/>
              </a:ext>
            </a:extLst>
          </p:cNvPr>
          <p:cNvSpPr txBox="1"/>
          <p:nvPr/>
        </p:nvSpPr>
        <p:spPr>
          <a:xfrm>
            <a:off x="8026400" y="2997200"/>
            <a:ext cx="3667760" cy="1477328"/>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环丙沙星暴露处理后乙酸、丙酸含量上升，头孢曲松钠暴露乙酸丙酸含量下降，阿莫西林暴露处理丙酸含量上升。三种抗生素暴露处理限制性底物利用能力下降</a:t>
            </a:r>
          </a:p>
        </p:txBody>
      </p:sp>
    </p:spTree>
    <p:extLst>
      <p:ext uri="{BB962C8B-B14F-4D97-AF65-F5344CB8AC3E}">
        <p14:creationId xmlns:p14="http://schemas.microsoft.com/office/powerpoint/2010/main" val="373798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0" y="0"/>
            <a:ext cx="2517866" cy="1822862"/>
          </a:xfrm>
          <a:prstGeom prst="rect">
            <a:avLst/>
          </a:prstGeom>
        </p:spPr>
      </p:pic>
      <p:sp>
        <p:nvSpPr>
          <p:cNvPr id="5" name="箭头: 五边形 4"/>
          <p:cNvSpPr/>
          <p:nvPr/>
        </p:nvSpPr>
        <p:spPr>
          <a:xfrm>
            <a:off x="149290" y="910569"/>
            <a:ext cx="10002416" cy="260422"/>
          </a:xfrm>
          <a:prstGeom prst="homePlat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161F8B3E-0543-F506-4CF3-848511C638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290" y="1822862"/>
            <a:ext cx="8403370" cy="4611020"/>
          </a:xfrm>
          <a:prstGeom prst="rect">
            <a:avLst/>
          </a:prstGeom>
        </p:spPr>
      </p:pic>
      <p:sp>
        <p:nvSpPr>
          <p:cNvPr id="8" name="文本框 7">
            <a:extLst>
              <a:ext uri="{FF2B5EF4-FFF2-40B4-BE49-F238E27FC236}">
                <a16:creationId xmlns:a16="http://schemas.microsoft.com/office/drawing/2014/main" id="{1E97613D-F8DF-78DE-2A13-97708D3615FE}"/>
              </a:ext>
            </a:extLst>
          </p:cNvPr>
          <p:cNvSpPr txBox="1"/>
          <p:nvPr/>
        </p:nvSpPr>
        <p:spPr>
          <a:xfrm>
            <a:off x="149290" y="1240481"/>
            <a:ext cx="10002416" cy="461665"/>
          </a:xfrm>
          <a:prstGeom prst="rect">
            <a:avLst/>
          </a:prstGeom>
          <a:noFill/>
        </p:spPr>
        <p:txBody>
          <a:bodyPr wrap="square" rtlCol="0">
            <a:spAutoFit/>
          </a:bodyPr>
          <a:lstStyle/>
          <a:p>
            <a:r>
              <a:rPr lang="zh-CN" altLang="en-US" sz="2400" dirty="0">
                <a:latin typeface="黑体" pitchFamily="49" charset="-122"/>
                <a:ea typeface="黑体" pitchFamily="49" charset="-122"/>
              </a:rPr>
              <a:t>抗生素暴露处理稳定期肠道菌群组成变化及抗性基因定量分析</a:t>
            </a:r>
          </a:p>
        </p:txBody>
      </p:sp>
      <p:sp>
        <p:nvSpPr>
          <p:cNvPr id="9" name="文本框 8">
            <a:extLst>
              <a:ext uri="{FF2B5EF4-FFF2-40B4-BE49-F238E27FC236}">
                <a16:creationId xmlns:a16="http://schemas.microsoft.com/office/drawing/2014/main" id="{0BDD5701-9172-3C44-3D0B-9ED54648DB65}"/>
              </a:ext>
            </a:extLst>
          </p:cNvPr>
          <p:cNvSpPr txBox="1"/>
          <p:nvPr/>
        </p:nvSpPr>
        <p:spPr>
          <a:xfrm>
            <a:off x="8701950" y="3519514"/>
            <a:ext cx="3426926" cy="3046988"/>
          </a:xfrm>
          <a:prstGeom prst="rect">
            <a:avLst/>
          </a:prstGeom>
          <a:noFill/>
        </p:spPr>
        <p:txBody>
          <a:bodyPr wrap="square" rtlCol="0">
            <a:spAutoFit/>
          </a:bodyPr>
          <a:lstStyle/>
          <a:p>
            <a:r>
              <a:rPr lang="en-US" altLang="zh-CN" sz="1600" dirty="0">
                <a:latin typeface="Times New Roman" pitchFamily="18" charset="0"/>
                <a:cs typeface="Times New Roman" pitchFamily="18" charset="0"/>
              </a:rPr>
              <a:t>Fig4.gut microbiota composition analysis under exposed in  antibiotics  treatment and antibiotics resistance gene quantify analysis.(A).PCA analysis of antibiotic treatment gut microbiota composition.(B) Alpha diversity index of antibiotic treatment gut microbiota.(C) The level of genus gut microbiota composition exposure antibiotic treatment.(D) antibiotics resistance gene quantify analysis of stability gut composition.</a:t>
            </a:r>
            <a:endParaRPr lang="zh-CN" altLang="en-US" sz="1600" dirty="0">
              <a:latin typeface="Times New Roman" pitchFamily="18" charset="0"/>
              <a:cs typeface="Times New Roman" pitchFamily="18" charset="0"/>
            </a:endParaRPr>
          </a:p>
        </p:txBody>
      </p:sp>
      <p:sp>
        <p:nvSpPr>
          <p:cNvPr id="10" name="文本框 9">
            <a:extLst>
              <a:ext uri="{FF2B5EF4-FFF2-40B4-BE49-F238E27FC236}">
                <a16:creationId xmlns:a16="http://schemas.microsoft.com/office/drawing/2014/main" id="{B4E4B83F-C8D2-00AE-0AC4-7409F4F54D6D}"/>
              </a:ext>
            </a:extLst>
          </p:cNvPr>
          <p:cNvSpPr txBox="1"/>
          <p:nvPr/>
        </p:nvSpPr>
        <p:spPr>
          <a:xfrm>
            <a:off x="8552660" y="2258827"/>
            <a:ext cx="3972560" cy="1200329"/>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抗生素暴露处理物种多样性下降，</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且高浓度暴露处理产生高丰度耐药菌株，同时抗生素抗性基因分析高浓度抗生素暴露抗性基因含量显著上升</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0AABA06-4651-FADF-DE72-1C75F20E0C5B}"/>
              </a:ext>
            </a:extLst>
          </p:cNvPr>
          <p:cNvSpPr>
            <a:spLocks noGrp="1"/>
          </p:cNvSpPr>
          <p:nvPr>
            <p:ph idx="1"/>
          </p:nvPr>
        </p:nvSpPr>
        <p:spPr>
          <a:xfrm>
            <a:off x="721360" y="447040"/>
            <a:ext cx="10632440" cy="5729923"/>
          </a:xfrm>
        </p:spPr>
        <p:txBody>
          <a:bodyPr/>
          <a:lstStyle/>
          <a:p>
            <a:pPr marL="0" indent="0">
              <a:buNone/>
            </a:pPr>
            <a:r>
              <a:rPr lang="zh-CN" altLang="en-US" dirty="0"/>
              <a:t>下一步计划</a:t>
            </a:r>
            <a:endParaRPr lang="en-US" altLang="zh-CN" dirty="0"/>
          </a:p>
          <a:p>
            <a:pPr marL="0" indent="0">
              <a:buNone/>
            </a:pPr>
            <a:r>
              <a:rPr lang="en-US" altLang="zh-CN" dirty="0"/>
              <a:t>1</a:t>
            </a:r>
            <a:r>
              <a:rPr lang="zh-CN" altLang="en-US" dirty="0"/>
              <a:t>、抗性基因迁移变化与菌群组成相关性分析</a:t>
            </a:r>
            <a:endParaRPr lang="en-US" altLang="zh-CN" dirty="0"/>
          </a:p>
          <a:p>
            <a:pPr marL="0" indent="0">
              <a:buNone/>
            </a:pPr>
            <a:r>
              <a:rPr lang="en-US" altLang="zh-CN" dirty="0"/>
              <a:t>2</a:t>
            </a:r>
            <a:r>
              <a:rPr lang="zh-CN" altLang="en-US" dirty="0"/>
              <a:t>、抗生素暴露处理样本宏基因组学送样分析</a:t>
            </a:r>
            <a:endParaRPr lang="en-US" altLang="zh-CN" dirty="0"/>
          </a:p>
          <a:p>
            <a:pPr marL="0" indent="0">
              <a:buNone/>
            </a:pPr>
            <a:r>
              <a:rPr lang="en-US" altLang="zh-CN" dirty="0"/>
              <a:t>3</a:t>
            </a:r>
            <a:r>
              <a:rPr lang="zh-CN" altLang="en-US" dirty="0"/>
              <a:t>、文章数据进一步挖掘整理，初稿撰写。</a:t>
            </a:r>
            <a:endParaRPr lang="en-US" altLang="zh-CN" dirty="0"/>
          </a:p>
          <a:p>
            <a:pPr marL="0" indent="0">
              <a:buNone/>
            </a:pPr>
            <a:r>
              <a:rPr lang="zh-CN" altLang="en-US" dirty="0"/>
              <a:t>问题：</a:t>
            </a:r>
            <a:r>
              <a:rPr lang="en-US" altLang="zh-CN" dirty="0"/>
              <a:t>β-</a:t>
            </a:r>
            <a:r>
              <a:rPr lang="zh-CN" altLang="en-US" dirty="0"/>
              <a:t>内酰胺类抗生素的抗菌作用机制是什么？</a:t>
            </a:r>
          </a:p>
        </p:txBody>
      </p:sp>
    </p:spTree>
    <p:extLst>
      <p:ext uri="{BB962C8B-B14F-4D97-AF65-F5344CB8AC3E}">
        <p14:creationId xmlns:p14="http://schemas.microsoft.com/office/powerpoint/2010/main" val="306795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6F633F7-40D1-E590-EC32-B8BB48B7F611}"/>
              </a:ext>
            </a:extLst>
          </p:cNvPr>
          <p:cNvSpPr>
            <a:spLocks noGrp="1"/>
          </p:cNvSpPr>
          <p:nvPr>
            <p:ph idx="1"/>
          </p:nvPr>
        </p:nvSpPr>
        <p:spPr>
          <a:xfrm>
            <a:off x="477520" y="386080"/>
            <a:ext cx="10876280" cy="5790883"/>
          </a:xfrm>
        </p:spPr>
        <p:txBody>
          <a:bodyPr>
            <a:normAutofit/>
          </a:bodyPr>
          <a:lstStyle/>
          <a:p>
            <a:pPr marL="0" indent="0">
              <a:buNone/>
            </a:pPr>
            <a:r>
              <a:rPr lang="zh-CN" altLang="en-US" b="0" i="0" dirty="0">
                <a:solidFill>
                  <a:srgbClr val="111111"/>
                </a:solidFill>
                <a:effectLst/>
                <a:latin typeface="宋体" panose="02010600030101010101" pitchFamily="2" charset="-122"/>
                <a:ea typeface="宋体" panose="02010600030101010101" pitchFamily="2" charset="-122"/>
              </a:rPr>
              <a:t>各种</a:t>
            </a:r>
            <a:r>
              <a:rPr lang="en-US" altLang="zh-CN" b="0" i="0" dirty="0">
                <a:solidFill>
                  <a:srgbClr val="111111"/>
                </a:solidFill>
                <a:effectLst/>
                <a:latin typeface="宋体" panose="02010600030101010101" pitchFamily="2" charset="-122"/>
                <a:ea typeface="宋体" panose="02010600030101010101" pitchFamily="2" charset="-122"/>
              </a:rPr>
              <a:t>β-</a:t>
            </a:r>
            <a:r>
              <a:rPr lang="zh-CN" altLang="en-US" b="0" i="0" dirty="0">
                <a:solidFill>
                  <a:srgbClr val="111111"/>
                </a:solidFill>
                <a:effectLst/>
                <a:latin typeface="宋体" panose="02010600030101010101" pitchFamily="2" charset="-122"/>
                <a:ea typeface="宋体" panose="02010600030101010101" pitchFamily="2" charset="-122"/>
              </a:rPr>
              <a:t>内酰胺类抗生素的作用机制均相似，都能</a:t>
            </a:r>
            <a:r>
              <a:rPr lang="zh-CN" altLang="en-US" i="0" dirty="0">
                <a:solidFill>
                  <a:srgbClr val="111111"/>
                </a:solidFill>
                <a:effectLst/>
                <a:latin typeface="宋体" panose="02010600030101010101" pitchFamily="2" charset="-122"/>
                <a:ea typeface="宋体" panose="02010600030101010101" pitchFamily="2" charset="-122"/>
              </a:rPr>
              <a:t>抑制胞壁粘肽合成酶</a:t>
            </a:r>
            <a:r>
              <a:rPr lang="zh-CN" altLang="en-US" b="0" i="0" dirty="0">
                <a:solidFill>
                  <a:srgbClr val="111111"/>
                </a:solidFill>
                <a:effectLst/>
                <a:latin typeface="宋体" panose="02010600030101010101" pitchFamily="2" charset="-122"/>
                <a:ea typeface="宋体" panose="02010600030101010101" pitchFamily="2" charset="-122"/>
              </a:rPr>
              <a:t>，即青霉素结合蛋白，从而阻碍细胞壁粘肽合成，使细菌胞壁缺损，菌体膨胀裂解。 除此之外，对细菌的致死效应还应包括触发细菌的自溶酶活性，缺乏自溶酶的突变株则表现出耐药性。 动物细胞无细胞壁，因此不受</a:t>
            </a:r>
            <a:r>
              <a:rPr lang="en-US" altLang="zh-CN" b="0" i="0" dirty="0">
                <a:solidFill>
                  <a:srgbClr val="111111"/>
                </a:solidFill>
                <a:effectLst/>
                <a:latin typeface="宋体" panose="02010600030101010101" pitchFamily="2" charset="-122"/>
                <a:ea typeface="宋体" panose="02010600030101010101" pitchFamily="2" charset="-122"/>
              </a:rPr>
              <a:t>β-</a:t>
            </a:r>
            <a:r>
              <a:rPr lang="zh-CN" altLang="en-US" b="0" i="0" dirty="0">
                <a:solidFill>
                  <a:srgbClr val="111111"/>
                </a:solidFill>
                <a:effectLst/>
                <a:latin typeface="宋体" panose="02010600030101010101" pitchFamily="2" charset="-122"/>
                <a:ea typeface="宋体" panose="02010600030101010101" pitchFamily="2" charset="-122"/>
              </a:rPr>
              <a:t>内酰胺类药物的影响，因而此类药物具有对细菌的选择性杀菌作用，对宿主毒性较小。</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3377176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931</TotalTime>
  <Words>669</Words>
  <Application>Microsoft Office PowerPoint</Application>
  <PresentationFormat>宽屏</PresentationFormat>
  <Paragraphs>66</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等线</vt:lpstr>
      <vt:lpstr>等线 Light</vt:lpstr>
      <vt:lpstr>黑体</vt:lpstr>
      <vt:lpstr>宋体</vt:lpstr>
      <vt:lpstr>Arial</vt:lpstr>
      <vt:lpstr>Cambria</vt:lpstr>
      <vt:lpstr>Times New Roman</vt:lpstr>
      <vt:lpstr>Office 主题​​</vt:lpstr>
      <vt:lpstr>人体肠道菌群混合培养稳态体系构建及 抗生素暴露条件下的风险评估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工作汇报</dc:title>
  <dc:creator>王 星</dc:creator>
  <cp:lastModifiedBy>星 王</cp:lastModifiedBy>
  <cp:revision>50</cp:revision>
  <dcterms:created xsi:type="dcterms:W3CDTF">1900-01-01T00:00:00Z</dcterms:created>
  <dcterms:modified xsi:type="dcterms:W3CDTF">2025-02-21T12:48:20Z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5D2C837459B7482E6C0E5B67F20C8826_33</vt:lpwstr>
  </property>
  <property fmtid="{D5CDD505-2E9C-101B-9397-08002B2CF9AE}" pid="3" name="KSOProductBuildVer">
    <vt:lpwstr>2052-12.18.1</vt:lpwstr>
  </property>
</Properties>
</file>